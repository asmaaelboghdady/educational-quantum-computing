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45"/>
  </p:notesMasterIdLst>
  <p:sldIdLst>
    <p:sldId id="257" r:id="rId5"/>
    <p:sldId id="297" r:id="rId6"/>
    <p:sldId id="298" r:id="rId7"/>
    <p:sldId id="258" r:id="rId8"/>
    <p:sldId id="259" r:id="rId9"/>
    <p:sldId id="261" r:id="rId10"/>
    <p:sldId id="260" r:id="rId11"/>
    <p:sldId id="265" r:id="rId12"/>
    <p:sldId id="266" r:id="rId13"/>
    <p:sldId id="262" r:id="rId14"/>
    <p:sldId id="263" r:id="rId15"/>
    <p:sldId id="264" r:id="rId16"/>
    <p:sldId id="268" r:id="rId17"/>
    <p:sldId id="269" r:id="rId18"/>
    <p:sldId id="295" r:id="rId19"/>
    <p:sldId id="270" r:id="rId20"/>
    <p:sldId id="271" r:id="rId21"/>
    <p:sldId id="272" r:id="rId22"/>
    <p:sldId id="273" r:id="rId23"/>
    <p:sldId id="275" r:id="rId24"/>
    <p:sldId id="274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92" r:id="rId37"/>
    <p:sldId id="293" r:id="rId38"/>
    <p:sldId id="287" r:id="rId39"/>
    <p:sldId id="288" r:id="rId40"/>
    <p:sldId id="289" r:id="rId41"/>
    <p:sldId id="290" r:id="rId42"/>
    <p:sldId id="296" r:id="rId43"/>
    <p:sldId id="294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E9A"/>
    <a:srgbClr val="FF3300"/>
    <a:srgbClr val="F8BAEB"/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3" autoAdjust="0"/>
    <p:restoredTop sz="95126" autoAdjust="0"/>
  </p:normalViewPr>
  <p:slideViewPr>
    <p:cSldViewPr snapToGrid="0">
      <p:cViewPr varScale="1">
        <p:scale>
          <a:sx n="72" d="100"/>
          <a:sy n="72" d="100"/>
        </p:scale>
        <p:origin x="654" y="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508E5A-3842-4374-99BC-BF0BFA346FB2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800C7D-766E-4A3B-ABD2-5917DAAFDB4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800C7D-766E-4A3B-ABD2-5917DAAFDB40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800C7D-766E-4A3B-ABD2-5917DAAFDB40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800C7D-766E-4A3B-ABD2-5917DAAFDB40}" type="slidenum">
              <a:rPr lang="en-US" smtClean="0"/>
              <a:t>25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10/13/2026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10/13/2026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10/13/2026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10/13/2026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10/13/2026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10/13/2026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10/13/2026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10/13/2026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10/13/2026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10/13/2026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10/13/2026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10/13/2026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175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anose="020F0502020204030204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7055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anose="020F0502020204030204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935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anose="020F0502020204030204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815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anose="020F0502020204030204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9982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84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87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89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microsoft.com/office/2007/relationships/hdphoto" Target="../media/hdphoto4.wdp"/><Relationship Id="rId5" Type="http://schemas.openxmlformats.org/officeDocument/2006/relationships/image" Target="../media/image5.png"/><Relationship Id="rId4" Type="http://schemas.microsoft.com/office/2007/relationships/hdphoto" Target="../media/hdphoto3.wdp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7" Type="http://schemas.microsoft.com/office/2007/relationships/hdphoto" Target="../media/hdphoto6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10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7" Type="http://schemas.microsoft.com/office/2007/relationships/hdphoto" Target="../media/hdphoto9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microsoft.com/office/2007/relationships/hdphoto" Target="../media/hdphoto8.wdp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hdphoto" Target="../media/hdphoto11.wdp"/><Relationship Id="rId3" Type="http://schemas.openxmlformats.org/officeDocument/2006/relationships/image" Target="../media/image16.sv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18.svg"/><Relationship Id="rId10" Type="http://schemas.openxmlformats.org/officeDocument/2006/relationships/image" Target="../media/image22.svg"/><Relationship Id="rId4" Type="http://schemas.openxmlformats.org/officeDocument/2006/relationships/image" Target="../media/image17.png"/><Relationship Id="rId9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microsoft.com/office/2007/relationships/hdphoto" Target="../media/hdphoto12.wdp"/><Relationship Id="rId7" Type="http://schemas.openxmlformats.org/officeDocument/2006/relationships/image" Target="../media/image26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3.wdp"/><Relationship Id="rId5" Type="http://schemas.openxmlformats.org/officeDocument/2006/relationships/image" Target="../media/image24.png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microsoft.com/office/2007/relationships/hdphoto" Target="../media/hdphoto16.wdp"/><Relationship Id="rId3" Type="http://schemas.microsoft.com/office/2007/relationships/hdphoto" Target="../media/hdphoto14.wdp"/><Relationship Id="rId7" Type="http://schemas.openxmlformats.org/officeDocument/2006/relationships/image" Target="../media/image32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5.wdp"/><Relationship Id="rId11" Type="http://schemas.openxmlformats.org/officeDocument/2006/relationships/image" Target="../media/image49.png"/><Relationship Id="rId5" Type="http://schemas.openxmlformats.org/officeDocument/2006/relationships/image" Target="../media/image31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7.wdp"/><Relationship Id="rId7" Type="http://schemas.microsoft.com/office/2007/relationships/hdphoto" Target="../media/hdphoto19.wdp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microsoft.com/office/2007/relationships/hdphoto" Target="../media/hdphoto18.wdp"/><Relationship Id="rId4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20.wdp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3" Type="http://schemas.openxmlformats.org/officeDocument/2006/relationships/image" Target="../media/image39.png"/><Relationship Id="rId7" Type="http://schemas.openxmlformats.org/officeDocument/2006/relationships/image" Target="../media/image41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5.wdp"/><Relationship Id="rId5" Type="http://schemas.openxmlformats.org/officeDocument/2006/relationships/image" Target="../media/image40.png"/><Relationship Id="rId4" Type="http://schemas.microsoft.com/office/2007/relationships/hdphoto" Target="../media/hdphoto21.wdp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22.wdp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79.png"/><Relationship Id="rId7" Type="http://schemas.openxmlformats.org/officeDocument/2006/relationships/image" Target="../media/image83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10" Type="http://schemas.openxmlformats.org/officeDocument/2006/relationships/image" Target="../media/image50.png"/><Relationship Id="rId4" Type="http://schemas.openxmlformats.org/officeDocument/2006/relationships/image" Target="../media/image80.png"/><Relationship Id="rId9" Type="http://schemas.openxmlformats.org/officeDocument/2006/relationships/image" Target="../media/image46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3.wdp"/><Relationship Id="rId4" Type="http://schemas.openxmlformats.org/officeDocument/2006/relationships/image" Target="../media/image51.png"/></Relationships>
</file>

<file path=ppt/slides/_rels/slide23.xml.rels><?xml version="1.0" encoding="UTF-8" standalone="yes"?>
<Relationships xmlns="http://schemas.openxmlformats.org/package/2006/relationships"><Relationship Id="rId8" Type="http://schemas.microsoft.com/office/2007/relationships/hdphoto" Target="../media/hdphoto26.wdp"/><Relationship Id="rId3" Type="http://schemas.microsoft.com/office/2007/relationships/hdphoto" Target="../media/hdphoto24.wdp"/><Relationship Id="rId7" Type="http://schemas.openxmlformats.org/officeDocument/2006/relationships/image" Target="../media/image55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microsoft.com/office/2007/relationships/hdphoto" Target="../media/hdphoto25.wdp"/><Relationship Id="rId5" Type="http://schemas.openxmlformats.org/officeDocument/2006/relationships/image" Target="../media/image54.png"/><Relationship Id="rId10" Type="http://schemas.microsoft.com/office/2007/relationships/hdphoto" Target="../media/hdphoto27.wdp"/><Relationship Id="rId4" Type="http://schemas.openxmlformats.org/officeDocument/2006/relationships/image" Target="../media/image53.png"/><Relationship Id="rId9" Type="http://schemas.openxmlformats.org/officeDocument/2006/relationships/image" Target="../media/image61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image" Target="../media/image111.png"/><Relationship Id="rId3" Type="http://schemas.openxmlformats.org/officeDocument/2006/relationships/image" Target="../media/image101.png"/><Relationship Id="rId7" Type="http://schemas.openxmlformats.org/officeDocument/2006/relationships/image" Target="../media/image105.png"/><Relationship Id="rId12" Type="http://schemas.openxmlformats.org/officeDocument/2006/relationships/image" Target="../media/image110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11" Type="http://schemas.openxmlformats.org/officeDocument/2006/relationships/image" Target="../media/image109.png"/><Relationship Id="rId5" Type="http://schemas.microsoft.com/office/2007/relationships/hdphoto" Target="../media/hdphoto28.wdp"/><Relationship Id="rId10" Type="http://schemas.openxmlformats.org/officeDocument/2006/relationships/image" Target="../media/image108.png"/><Relationship Id="rId4" Type="http://schemas.openxmlformats.org/officeDocument/2006/relationships/image" Target="../media/image64.png"/><Relationship Id="rId9" Type="http://schemas.microsoft.com/office/2007/relationships/hdphoto" Target="../media/hdphoto29.wdp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7.png"/><Relationship Id="rId7" Type="http://schemas.openxmlformats.org/officeDocument/2006/relationships/image" Target="../media/image1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microsoft.com/office/2007/relationships/hdphoto" Target="../media/hdphoto31.wdp"/><Relationship Id="rId5" Type="http://schemas.openxmlformats.org/officeDocument/2006/relationships/image" Target="../media/image68.png"/><Relationship Id="rId4" Type="http://schemas.microsoft.com/office/2007/relationships/hdphoto" Target="../media/hdphoto30.wdp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07/relationships/hdphoto" Target="../media/hdphoto32.wdp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microsoft.com/office/2007/relationships/hdphoto" Target="../media/hdphoto33.wdp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4.png"/></Relationships>
</file>

<file path=ppt/slides/_rels/slide28.xml.rels><?xml version="1.0" encoding="UTF-8" standalone="yes"?>
<Relationships xmlns="http://schemas.openxmlformats.org/package/2006/relationships"><Relationship Id="rId3" Type="http://schemas.microsoft.com/office/2007/relationships/hdphoto" Target="../media/hdphoto34.wdp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microsoft.com/office/2007/relationships/hdphoto" Target="../media/hdphoto35.wdp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microsoft.com/office/2007/relationships/hdphoto" Target="../media/hdphoto36.wdp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microsoft.com/office/2007/relationships/hdphoto" Target="../media/hdphoto37.wdp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1.png"/></Relationships>
</file>

<file path=ppt/slides/_rels/slide32.xml.rels><?xml version="1.0" encoding="UTF-8" standalone="yes"?>
<Relationships xmlns="http://schemas.openxmlformats.org/package/2006/relationships"><Relationship Id="rId3" Type="http://schemas.microsoft.com/office/2007/relationships/hdphoto" Target="../media/hdphoto38.wdp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3.wdp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33.xml.rels><?xml version="1.0" encoding="UTF-8" standalone="yes"?>
<Relationships xmlns="http://schemas.openxmlformats.org/package/2006/relationships"><Relationship Id="rId3" Type="http://schemas.microsoft.com/office/2007/relationships/hdphoto" Target="../media/hdphoto39.wdp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5.png"/></Relationships>
</file>

<file path=ppt/slides/_rels/slide34.xml.rels><?xml version="1.0" encoding="UTF-8" standalone="yes"?>
<Relationships xmlns="http://schemas.openxmlformats.org/package/2006/relationships"><Relationship Id="rId3" Type="http://schemas.microsoft.com/office/2007/relationships/hdphoto" Target="../media/hdphoto40.wdp"/><Relationship Id="rId7" Type="http://schemas.openxmlformats.org/officeDocument/2006/relationships/image" Target="../media/image144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6" Type="http://schemas.microsoft.com/office/2007/relationships/hdphoto" Target="../media/hdphoto41.wdp"/><Relationship Id="rId5" Type="http://schemas.openxmlformats.org/officeDocument/2006/relationships/image" Target="../media/image97.png"/><Relationship Id="rId4" Type="http://schemas.openxmlformats.org/officeDocument/2006/relationships/image" Target="../media/image141.png"/></Relationships>
</file>

<file path=ppt/slides/_rels/slide35.xml.rels><?xml version="1.0" encoding="UTF-8" standalone="yes"?>
<Relationships xmlns="http://schemas.openxmlformats.org/package/2006/relationships"><Relationship Id="rId3" Type="http://schemas.microsoft.com/office/2007/relationships/hdphoto" Target="../media/hdphoto42.wdp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microsoft.com/office/2007/relationships/hdphoto" Target="../media/hdphoto43.wdp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microsoft.com/office/2007/relationships/hdphoto" Target="../media/hdphoto44.wdp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6" Type="http://schemas.microsoft.com/office/2007/relationships/hdphoto" Target="../media/hdphoto45.wdp"/><Relationship Id="rId5" Type="http://schemas.openxmlformats.org/officeDocument/2006/relationships/image" Target="../media/image103.png"/><Relationship Id="rId4" Type="http://schemas.openxmlformats.org/officeDocument/2006/relationships/image" Target="../media/image102.png"/></Relationships>
</file>

<file path=ppt/slides/_rels/slide38.xml.rels><?xml version="1.0" encoding="UTF-8" standalone="yes"?>
<Relationships xmlns="http://schemas.openxmlformats.org/package/2006/relationships"><Relationship Id="rId3" Type="http://schemas.microsoft.com/office/2007/relationships/hdphoto" Target="../media/hdphoto46.wdp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From fragile qubits to resilient computation — quantum error correction, and especially the surface code, paves the way to truly fault-tolerant quantum machines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766779" cy="3686015"/>
          </a:xfrm>
        </p:spPr>
        <p:txBody>
          <a:bodyPr>
            <a:normAutofit fontScale="90000"/>
          </a:bodyPr>
          <a:lstStyle/>
          <a:p>
            <a:r>
              <a:rPr lang="en-US" sz="8000" dirty="0"/>
              <a:t>Quantum</a:t>
            </a:r>
            <a:br>
              <a:rPr lang="en-US" sz="8000" dirty="0"/>
            </a:br>
            <a:r>
              <a:rPr lang="en-US" sz="8000" dirty="0"/>
              <a:t>Error </a:t>
            </a:r>
            <a:br>
              <a:rPr lang="en-US" sz="8000" dirty="0"/>
            </a:br>
            <a:r>
              <a:rPr lang="en-US" sz="8000" dirty="0"/>
              <a:t>Correction - </a:t>
            </a:r>
            <a:br>
              <a:rPr lang="en-US" sz="8000" dirty="0"/>
            </a:br>
            <a:r>
              <a:rPr lang="en-US" sz="8000" dirty="0"/>
              <a:t>Surface Code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27753" y="4672740"/>
            <a:ext cx="6253317" cy="1290270"/>
          </a:xfrm>
        </p:spPr>
        <p:txBody>
          <a:bodyPr>
            <a:normAutofit/>
          </a:bodyPr>
          <a:lstStyle/>
          <a:p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Asmaa Ali</a:t>
            </a:r>
          </a:p>
          <a:p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Theoretical physics </a:t>
            </a:r>
            <a:endParaRPr lang="en-US" sz="1400" dirty="0">
              <a:solidFill>
                <a:srgbClr val="FF0000"/>
              </a:solidFill>
            </a:endParaRPr>
          </a:p>
          <a:p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Faculty of science - Mansoura university</a:t>
            </a:r>
          </a:p>
        </p:txBody>
      </p:sp>
      <p:pic>
        <p:nvPicPr>
          <p:cNvPr id="5" name="Picture 4" descr="A picture containing building, sitting, bench, side&#10;&#10;Description automatically generated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1" y="1"/>
            <a:ext cx="4635315" cy="6857996"/>
          </a:xfrm>
          <a:prstGeom prst="rect">
            <a:avLst/>
          </a:prstGeom>
        </p:spPr>
      </p:pic>
      <p:cxnSp>
        <p:nvCxnSpPr>
          <p:cNvPr id="24" name="Straight Connector 23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 rot="19983632">
            <a:off x="31218" y="3532835"/>
            <a:ext cx="56250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Comic Sans MS" panose="030F0702030302020204" pitchFamily="66" charset="0"/>
              </a:rPr>
              <a:t>Toward Fault-tolerant Quantum Computation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27753" y="5844290"/>
            <a:ext cx="15388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cap="all" spc="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August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400" cap="all" spc="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152DFE6-4487-47AE-A4D3-AA72CB4A46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173" y="2160105"/>
            <a:ext cx="9188635" cy="3352799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84565C8-90A6-466B-8B43-41D42C4FB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783" y="326360"/>
            <a:ext cx="10058400" cy="1450757"/>
          </a:xfrm>
        </p:spPr>
        <p:txBody>
          <a:bodyPr/>
          <a:lstStyle/>
          <a:p>
            <a:r>
              <a:rPr lang="en-US" dirty="0"/>
              <a:t>TIMELINE</a:t>
            </a:r>
          </a:p>
        </p:txBody>
      </p:sp>
    </p:spTree>
    <p:extLst>
      <p:ext uri="{BB962C8B-B14F-4D97-AF65-F5344CB8AC3E}">
        <p14:creationId xmlns:p14="http://schemas.microsoft.com/office/powerpoint/2010/main" val="1001446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AE882-72CE-4D8E-A068-4E654C488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783" y="326360"/>
            <a:ext cx="10058400" cy="1450757"/>
          </a:xfrm>
        </p:spPr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9AF586-EE66-4E6C-9BF4-0761F3DBF472}"/>
              </a:ext>
            </a:extLst>
          </p:cNvPr>
          <p:cNvSpPr txBox="1"/>
          <p:nvPr/>
        </p:nvSpPr>
        <p:spPr>
          <a:xfrm>
            <a:off x="8839199" y="3564835"/>
            <a:ext cx="16846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Charles Bennet</a:t>
            </a:r>
          </a:p>
        </p:txBody>
      </p:sp>
      <p:sp>
        <p:nvSpPr>
          <p:cNvPr id="3" name="AutoShape 2" descr="Generated image 3">
            <a:extLst>
              <a:ext uri="{FF2B5EF4-FFF2-40B4-BE49-F238E27FC236}">
                <a16:creationId xmlns:a16="http://schemas.microsoft.com/office/drawing/2014/main" id="{EC950597-E905-4C0D-B4DD-61537368102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080591" y="3276599"/>
            <a:ext cx="4167809" cy="4167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660C483-A890-4F80-92AE-6E5B1273CF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377" y="1993805"/>
            <a:ext cx="7887801" cy="4367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8833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4178" y="529471"/>
            <a:ext cx="11887200" cy="3894059"/>
          </a:xfrm>
        </p:spPr>
        <p:txBody>
          <a:bodyPr anchor="ctr">
            <a:noAutofit/>
          </a:bodyPr>
          <a:lstStyle/>
          <a:p>
            <a:r>
              <a:rPr lang="en-US" sz="2800" dirty="0">
                <a:latin typeface="+mn-lt"/>
              </a:rPr>
              <a:t>Aim:</a:t>
            </a:r>
            <a:br>
              <a:rPr lang="en-US" sz="2800" dirty="0">
                <a:latin typeface="+mn-lt"/>
              </a:rPr>
            </a:br>
            <a:br>
              <a:rPr lang="en-US" sz="2800" dirty="0">
                <a:latin typeface="+mn-lt"/>
              </a:rPr>
            </a:br>
            <a:r>
              <a:rPr lang="en-US" sz="2800" dirty="0">
                <a:latin typeface="+mn-lt"/>
              </a:rPr>
              <a:t>By the end of this presentation, you should have a </a:t>
            </a:r>
            <a:r>
              <a:rPr lang="en-US" sz="2800" b="1" dirty="0">
                <a:latin typeface="+mn-lt"/>
              </a:rPr>
              <a:t>solid conceptual map </a:t>
            </a:r>
            <a:r>
              <a:rPr lang="en-US" sz="2800" dirty="0">
                <a:latin typeface="+mn-lt"/>
              </a:rPr>
              <a:t>moving from:</a:t>
            </a:r>
            <a:br>
              <a:rPr lang="en-US" sz="2800" dirty="0">
                <a:latin typeface="+mn-lt"/>
              </a:rPr>
            </a:br>
            <a:br>
              <a:rPr lang="en-US" sz="2800" dirty="0">
                <a:latin typeface="+mn-lt"/>
              </a:rPr>
            </a:br>
            <a:r>
              <a:rPr lang="en-US" sz="2800" dirty="0">
                <a:latin typeface="+mn-lt"/>
              </a:rPr>
              <a:t>	</a:t>
            </a:r>
            <a:r>
              <a:rPr lang="en-US" sz="2800" b="1" dirty="0">
                <a:latin typeface="+mn-lt"/>
              </a:rPr>
              <a:t>Classical fault tolerance</a:t>
            </a:r>
            <a:r>
              <a:rPr lang="en-US" sz="2800" dirty="0">
                <a:latin typeface="+mn-lt"/>
              </a:rPr>
              <a:t> → basics of repetition codes and code distance.</a:t>
            </a:r>
            <a:br>
              <a:rPr lang="en-US" sz="2800" dirty="0">
                <a:latin typeface="+mn-lt"/>
              </a:rPr>
            </a:br>
            <a:br>
              <a:rPr lang="en-US" sz="2800" dirty="0">
                <a:latin typeface="+mn-lt"/>
              </a:rPr>
            </a:br>
            <a:r>
              <a:rPr lang="en-US" sz="2800" dirty="0">
                <a:latin typeface="+mn-lt"/>
              </a:rPr>
              <a:t>	</a:t>
            </a:r>
            <a:r>
              <a:rPr lang="en-US" sz="2800" b="1" dirty="0">
                <a:latin typeface="+mn-lt"/>
              </a:rPr>
              <a:t>Quantum stabilizer codes</a:t>
            </a:r>
            <a:r>
              <a:rPr lang="en-US" sz="2800" dirty="0">
                <a:latin typeface="+mn-lt"/>
              </a:rPr>
              <a:t> → stabilizers, code space, and error detection.</a:t>
            </a:r>
            <a:br>
              <a:rPr lang="en-US" sz="2800" dirty="0">
                <a:latin typeface="+mn-lt"/>
              </a:rPr>
            </a:br>
            <a:br>
              <a:rPr lang="en-US" sz="2800" dirty="0">
                <a:latin typeface="+mn-lt"/>
              </a:rPr>
            </a:br>
            <a:r>
              <a:rPr lang="en-US" sz="2800" dirty="0">
                <a:latin typeface="+mn-lt"/>
              </a:rPr>
              <a:t>	</a:t>
            </a:r>
            <a:r>
              <a:rPr lang="en-US" sz="2800" b="1" dirty="0">
                <a:latin typeface="+mn-lt"/>
              </a:rPr>
              <a:t>Surface code</a:t>
            </a:r>
            <a:r>
              <a:rPr lang="en-US" sz="2800" dirty="0">
                <a:latin typeface="+mn-lt"/>
              </a:rPr>
              <a:t> → as a topological code enabling scalable fault-tolerance.</a:t>
            </a:r>
            <a:endParaRPr lang="en-US" sz="2800" i="1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9" name="Rectangle 4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3146" y="5156808"/>
            <a:ext cx="10058400" cy="1497384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rgbClr val="FFFFFF"/>
                </a:solidFill>
              </a:rPr>
              <a:t>Keywords:</a:t>
            </a:r>
          </a:p>
          <a:p>
            <a:r>
              <a:rPr lang="en-US" dirty="0">
                <a:solidFill>
                  <a:srgbClr val="FFFFFF"/>
                </a:solidFill>
              </a:rPr>
              <a:t>Code distance – Logical qubit – syndrome - stabilizer – Detector – Detection event –codewords – code space – Minimum weight perfect matching – threshold ,…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0704" y="222046"/>
            <a:ext cx="10058400" cy="1450757"/>
          </a:xfrm>
        </p:spPr>
        <p:txBody>
          <a:bodyPr/>
          <a:lstStyle/>
          <a:p>
            <a:r>
              <a:rPr lang="en-US" dirty="0"/>
              <a:t>What are Quantum Errors?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t="24324" b="22857"/>
          <a:stretch>
            <a:fillRect/>
          </a:stretch>
        </p:blipFill>
        <p:spPr>
          <a:xfrm>
            <a:off x="544128" y="3429000"/>
            <a:ext cx="5305776" cy="191386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655733" y="2009423"/>
            <a:ext cx="6186311" cy="390115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232017" y="5970196"/>
            <a:ext cx="27796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/>
              <a:t>Qiskit</a:t>
            </a:r>
            <a:r>
              <a:rPr lang="en-US" sz="1200" dirty="0"/>
              <a:t> global summer school 2024 - IBM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704" y="2349880"/>
            <a:ext cx="4031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Real Quantum Computers are not ideal!</a:t>
            </a:r>
          </a:p>
        </p:txBody>
      </p:sp>
      <p:pic>
        <p:nvPicPr>
          <p:cNvPr id="3" name="Picture 2"/>
          <p:cNvPicPr/>
          <p:nvPr/>
        </p:nvPicPr>
        <p:blipFill>
          <a:blip r:embed="rId7"/>
          <a:stretch>
            <a:fillRect/>
          </a:stretch>
        </p:blipFill>
        <p:spPr>
          <a:xfrm>
            <a:off x="2071370" y="3334385"/>
            <a:ext cx="1243965" cy="12503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Decomposition of Errors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69561" y="2616823"/>
            <a:ext cx="5345851" cy="850277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319512" y="2287738"/>
            <a:ext cx="1192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Phase-Flip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6979985" y="2447818"/>
                <a:ext cx="3856377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Multplication Rules :</a:t>
                </a:r>
              </a:p>
              <a:p>
                <a:r>
                  <a:rPr lang="en-US" b="0" dirty="0">
                    <a:solidFill>
                      <a:srgbClr val="002060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𝑋𝑌</m:t>
                    </m:r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𝑖𝑍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𝑌𝑍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𝑖𝑋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𝒁𝑿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𝒊𝒀</m:t>
                    </m:r>
                  </m:oMath>
                </a14:m>
                <a:r>
                  <a:rPr lang="en-US" b="1" dirty="0">
                    <a:solidFill>
                      <a:schemeClr val="tx1"/>
                    </a:solidFill>
                  </a:rPr>
                  <a:t> </a:t>
                </a:r>
                <a:endParaRPr lang="en-US" b="1" dirty="0"/>
              </a:p>
              <a:p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Anti-commutation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𝑿𝒁</m:t>
                      </m:r>
                      <m:r>
                        <a:rPr lang="en-US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𝒁𝑿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𝑌𝑍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𝑍𝑌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9985" y="2447818"/>
                <a:ext cx="3856377" cy="1754326"/>
              </a:xfrm>
              <a:prstGeom prst="rect">
                <a:avLst/>
              </a:prstGeom>
              <a:blipFill rotWithShape="1">
                <a:blip r:embed="rId4"/>
                <a:stretch>
                  <a:fillRect l="-2" t="-30" r="-47" b="2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/>
          <p:cNvSpPr txBox="1"/>
          <p:nvPr/>
        </p:nvSpPr>
        <p:spPr>
          <a:xfrm>
            <a:off x="2648686" y="2297156"/>
            <a:ext cx="1193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Bit Flip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1848373" y="4183155"/>
                <a:ext cx="7448834" cy="20313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Any arbitrary error can be represented as a linear combination of Paulis:</a:t>
                </a:r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𝑰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𝒁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 b="1" dirty="0"/>
              </a:p>
              <a:p>
                <a:endParaRPr lang="en-US" b="1" dirty="0"/>
              </a:p>
              <a:p>
                <a:endParaRPr lang="en-US" b="1" dirty="0">
                  <a:sym typeface="Wingdings" panose="05000000000000000000" pitchFamily="2" charset="2"/>
                </a:endParaRPr>
              </a:p>
              <a:p>
                <a:r>
                  <a:rPr lang="en-US" b="1" dirty="0">
                    <a:sym typeface="Wingdings" panose="05000000000000000000" pitchFamily="2" charset="2"/>
                  </a:rPr>
                  <a:t></a:t>
                </a:r>
              </a:p>
              <a:p>
                <a:endParaRPr lang="en-US" b="1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8373" y="4183155"/>
                <a:ext cx="7448834" cy="2031325"/>
              </a:xfrm>
              <a:prstGeom prst="rect">
                <a:avLst/>
              </a:prstGeom>
              <a:blipFill rotWithShape="1">
                <a:blip r:embed="rId5"/>
                <a:stretch>
                  <a:fillRect l="-7" t="-20" r="2" b="1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7" name="Picture 36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14433" y="5380017"/>
            <a:ext cx="5837509" cy="70797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8" name="TextBox 37"/>
          <p:cNvSpPr txBox="1"/>
          <p:nvPr/>
        </p:nvSpPr>
        <p:spPr>
          <a:xfrm>
            <a:off x="7614369" y="6065417"/>
            <a:ext cx="18479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Austin Fowler - Google</a:t>
            </a:r>
          </a:p>
        </p:txBody>
      </p:sp>
      <p:cxnSp>
        <p:nvCxnSpPr>
          <p:cNvPr id="40" name="Straight Arrow Connector 39"/>
          <p:cNvCxnSpPr/>
          <p:nvPr/>
        </p:nvCxnSpPr>
        <p:spPr>
          <a:xfrm flipH="1">
            <a:off x="3213100" y="5112909"/>
            <a:ext cx="952500" cy="1718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9241207" y="1416607"/>
            <a:ext cx="19402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Pauli operations</a:t>
            </a:r>
          </a:p>
        </p:txBody>
      </p:sp>
      <p:cxnSp>
        <p:nvCxnSpPr>
          <p:cNvPr id="45" name="Straight Arrow Connector 44"/>
          <p:cNvCxnSpPr/>
          <p:nvPr/>
        </p:nvCxnSpPr>
        <p:spPr>
          <a:xfrm flipV="1">
            <a:off x="2648686" y="2616823"/>
            <a:ext cx="208814" cy="2914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flipV="1">
            <a:off x="5294721" y="2616823"/>
            <a:ext cx="208814" cy="2914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/>
          <p:cNvCxnSpPr/>
          <p:nvPr/>
        </p:nvCxnSpPr>
        <p:spPr>
          <a:xfrm flipH="1">
            <a:off x="3690620" y="3249930"/>
            <a:ext cx="428625" cy="3568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TextBox 29"/>
          <p:cNvSpPr txBox="1"/>
          <p:nvPr/>
        </p:nvSpPr>
        <p:spPr>
          <a:xfrm>
            <a:off x="2648585" y="3480435"/>
            <a:ext cx="1345565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Both errors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5004" y="270810"/>
            <a:ext cx="9572049" cy="1450757"/>
          </a:xfrm>
        </p:spPr>
        <p:txBody>
          <a:bodyPr>
            <a:normAutofit fontScale="90000"/>
          </a:bodyPr>
          <a:lstStyle/>
          <a:p>
            <a:r>
              <a:rPr lang="en-US" dirty="0"/>
              <a:t>Classical Fault Tolerance – Massive Redundancy (Repetition Code)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86410" y="4543425"/>
            <a:ext cx="5615305" cy="15843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6807" y="2948080"/>
            <a:ext cx="427799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At most one bit-flip</a:t>
            </a:r>
            <a:r>
              <a:rPr lang="en-US" b="1" dirty="0"/>
              <a:t> </a:t>
            </a:r>
            <a:r>
              <a:rPr lang="en-US" dirty="0"/>
              <a:t>of any of the three bits.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50060" y="2391611"/>
            <a:ext cx="3235504" cy="42638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l="58349"/>
          <a:stretch>
            <a:fillRect/>
          </a:stretch>
        </p:blipFill>
        <p:spPr>
          <a:xfrm>
            <a:off x="6682458" y="3781002"/>
            <a:ext cx="2696280" cy="261429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155" y="4315235"/>
            <a:ext cx="13346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Logical zero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91114" y="4315225"/>
            <a:ext cx="13163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Logical One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486411" y="2174770"/>
            <a:ext cx="90805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394733" y="1990063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5564" y="2447145"/>
            <a:ext cx="13546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“Decoding”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r="58416" b="12703"/>
          <a:stretch>
            <a:fillRect/>
          </a:stretch>
        </p:blipFill>
        <p:spPr>
          <a:xfrm>
            <a:off x="8961755" y="1889020"/>
            <a:ext cx="2360930" cy="2282190"/>
          </a:xfrm>
          <a:prstGeom prst="rect">
            <a:avLst/>
          </a:prstGeom>
        </p:spPr>
      </p:pic>
      <p:sp>
        <p:nvSpPr>
          <p:cNvPr id="18" name="TextBox 12"/>
          <p:cNvSpPr txBox="1"/>
          <p:nvPr/>
        </p:nvSpPr>
        <p:spPr>
          <a:xfrm>
            <a:off x="7284086" y="2568747"/>
            <a:ext cx="18161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Binary noise symmetric channel</a:t>
            </a:r>
          </a:p>
        </p:txBody>
      </p:sp>
      <p:sp>
        <p:nvSpPr>
          <p:cNvPr id="5" name="TextBox 14"/>
          <p:cNvSpPr txBox="1"/>
          <p:nvPr/>
        </p:nvSpPr>
        <p:spPr>
          <a:xfrm>
            <a:off x="395784" y="2433810"/>
            <a:ext cx="1354667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“Encoding”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Fundamentals of Classical Error Correction – Code Distance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89994" y="3181096"/>
            <a:ext cx="6081394" cy="19927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7280" y="1998345"/>
            <a:ext cx="102133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/>
              <a:t>The </a:t>
            </a:r>
            <a:r>
              <a:rPr lang="en-US" b="1" dirty="0"/>
              <a:t>code distance</a:t>
            </a:r>
            <a:r>
              <a:rPr lang="en-US" dirty="0"/>
              <a:t> is </a:t>
            </a:r>
            <a:r>
              <a:rPr lang="en-US" altLang="en-US" dirty="0"/>
              <a:t>the minimum number of physical errors that when combined cause an </a:t>
            </a:r>
            <a:r>
              <a:rPr lang="en-US" altLang="en-US" b="1" dirty="0"/>
              <a:t>undetectable logical error</a:t>
            </a:r>
            <a:r>
              <a:rPr lang="en-US" altLang="en-US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506980" y="5274837"/>
                <a:ext cx="6807200" cy="10204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The code of distance d can </a:t>
                </a:r>
                <a:r>
                  <a:rPr lang="en-US" b="1" dirty="0"/>
                  <a:t>correct </a:t>
                </a:r>
                <a:r>
                  <a:rPr lang="en-US" dirty="0"/>
                  <a:t>errors of number up to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This means that the code of distance d fails for at least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 errors.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6980" y="5274837"/>
                <a:ext cx="6807200" cy="1020445"/>
              </a:xfrm>
              <a:prstGeom prst="rect">
                <a:avLst/>
              </a:prstGeom>
              <a:blipFill rotWithShape="1">
                <a:blip r:embed="rId4"/>
                <a:stretch>
                  <a:fillRect t="-52" b="5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4609441" y="2652319"/>
            <a:ext cx="321373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 of code distance d=5: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659" y="321327"/>
            <a:ext cx="11396564" cy="1450757"/>
          </a:xfrm>
        </p:spPr>
        <p:txBody>
          <a:bodyPr>
            <a:normAutofit/>
          </a:bodyPr>
          <a:lstStyle/>
          <a:p>
            <a:r>
              <a:rPr lang="en-US" dirty="0"/>
              <a:t>Fundamentals of Classical Error Correction – Decoding by MWPM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665" y="3015262"/>
            <a:ext cx="10498015" cy="24309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0921" y="2304210"/>
            <a:ext cx="10931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Other than decoding by major vote, there is by </a:t>
            </a:r>
            <a:r>
              <a:rPr lang="en-US" b="1" dirty="0"/>
              <a:t>Minimum Weight Perfect Matching </a:t>
            </a:r>
            <a:r>
              <a:rPr lang="en-US" dirty="0"/>
              <a:t>method</a:t>
            </a:r>
            <a:r>
              <a:rPr lang="en-US" b="1" dirty="0"/>
              <a:t> </a:t>
            </a:r>
            <a:r>
              <a:rPr lang="en-US" dirty="0"/>
              <a:t>that measures </a:t>
            </a:r>
            <a:r>
              <a:rPr lang="en-US" b="1" dirty="0"/>
              <a:t>Parity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Trying Classical Repetition code for Qubits</a:t>
            </a:r>
            <a:r>
              <a:rPr lang="en-US" b="1" dirty="0"/>
              <a:t>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3400" y="2286000"/>
            <a:ext cx="4537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No Cloning </a:t>
            </a:r>
            <a:r>
              <a:rPr lang="en-US" dirty="0"/>
              <a:t>(can’t repeat the qubit state!)</a:t>
            </a:r>
          </a:p>
        </p:txBody>
      </p:sp>
      <p:pic>
        <p:nvPicPr>
          <p:cNvPr id="6" name="Graphic 5" descr="Sad face with no fill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8999" y="2964935"/>
            <a:ext cx="914400" cy="914400"/>
          </a:xfrm>
          <a:prstGeom prst="rect">
            <a:avLst/>
          </a:prstGeom>
        </p:spPr>
      </p:pic>
      <p:pic>
        <p:nvPicPr>
          <p:cNvPr id="8" name="Graphic 7" descr="Nervous face with no fill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9000" y="2000766"/>
            <a:ext cx="914400" cy="914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803399" y="3237469"/>
            <a:ext cx="6366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Sate collapse </a:t>
            </a:r>
            <a:r>
              <a:rPr lang="en-US" dirty="0"/>
              <a:t>when measured ( can’t detect the major vote)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26333" y="4024729"/>
            <a:ext cx="2102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But we can do this!!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8123448" y="4972501"/>
                <a:ext cx="3860800" cy="8224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begChr m:val="|"/>
                          <m:endChr m:val="⟩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𝛽</m:t>
                      </m:r>
                      <m:d>
                        <m:dPr>
                          <m:begChr m:val="|"/>
                          <m:endChr m:val="⟩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begChr m:val="|"/>
                          <m:endChr m:val="⟩"/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𝟎𝟎𝟎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𝟏𝟏𝟏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3448" y="4972501"/>
                <a:ext cx="3860800" cy="822469"/>
              </a:xfrm>
              <a:prstGeom prst="rect">
                <a:avLst/>
              </a:prstGeom>
              <a:blipFill rotWithShape="1">
                <a:blip r:embed="rId6"/>
                <a:stretch>
                  <a:fillRect l="-14" t="-55" r="14" b="7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/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colorTemperature colorTemp="4700"/>
                    </a14:imgEffect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840071" y="4742590"/>
            <a:ext cx="5550077" cy="1337965"/>
          </a:xfrm>
          <a:prstGeom prst="rect">
            <a:avLst/>
          </a:prstGeom>
        </p:spPr>
      </p:pic>
      <p:sp>
        <p:nvSpPr>
          <p:cNvPr id="16" name="Explosion: 8 Points 15"/>
          <p:cNvSpPr/>
          <p:nvPr/>
        </p:nvSpPr>
        <p:spPr>
          <a:xfrm>
            <a:off x="207752" y="4706279"/>
            <a:ext cx="2573371" cy="1438254"/>
          </a:xfrm>
          <a:prstGeom prst="irregularSeal1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590986" y="5213248"/>
            <a:ext cx="1806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Entanglement!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5429" y="4442657"/>
            <a:ext cx="1080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Encoding</a:t>
            </a:r>
          </a:p>
        </p:txBody>
      </p:sp>
      <p:pic>
        <p:nvPicPr>
          <p:cNvPr id="51" name="Graphic 50" descr="No sign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496945" y="1959812"/>
            <a:ext cx="914400" cy="914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8261616" y="2254870"/>
                <a:ext cx="1385059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⟩|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1616" y="2254870"/>
                <a:ext cx="1385059" cy="923330"/>
              </a:xfrm>
              <a:prstGeom prst="rect">
                <a:avLst/>
              </a:prstGeom>
              <a:blipFill rotWithShape="1">
                <a:blip r:embed="rId11"/>
                <a:stretch>
                  <a:fillRect l="-19" t="-67" r="28" b="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Box 2"/>
          <p:cNvSpPr txBox="1"/>
          <p:nvPr/>
        </p:nvSpPr>
        <p:spPr>
          <a:xfrm>
            <a:off x="9801860" y="5807075"/>
            <a:ext cx="10871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GHZ state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Detecting Bit-flip error – Parity checker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746946" y="2330531"/>
            <a:ext cx="3848100" cy="14097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6739467" y="2573165"/>
                <a:ext cx="18919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|101⟩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9467" y="2573165"/>
                <a:ext cx="1891928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11" t="-39" r="25" b="14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ight Brace 3"/>
          <p:cNvSpPr/>
          <p:nvPr/>
        </p:nvSpPr>
        <p:spPr>
          <a:xfrm>
            <a:off x="6595046" y="2358953"/>
            <a:ext cx="45719" cy="798309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l="26119"/>
          <a:stretch>
            <a:fillRect/>
          </a:stretch>
        </p:blipFill>
        <p:spPr>
          <a:xfrm>
            <a:off x="2735657" y="4363426"/>
            <a:ext cx="3525628" cy="1771650"/>
          </a:xfrm>
          <a:prstGeom prst="rect">
            <a:avLst/>
          </a:prstGeom>
        </p:spPr>
      </p:pic>
      <p:cxnSp>
        <p:nvCxnSpPr>
          <p:cNvPr id="10" name="Straight Arrow Connector 9"/>
          <p:cNvCxnSpPr/>
          <p:nvPr/>
        </p:nvCxnSpPr>
        <p:spPr>
          <a:xfrm flipH="1">
            <a:off x="4033651" y="3782060"/>
            <a:ext cx="2504309" cy="426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268632" y="4657375"/>
            <a:ext cx="1404779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The state after encoding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4541" y="5535815"/>
            <a:ext cx="13268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SYNDROME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9672555" y="4181780"/>
          <a:ext cx="1705360" cy="16023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2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2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2156">
                <a:tc>
                  <a:txBody>
                    <a:bodyPr/>
                    <a:lstStyle/>
                    <a:p>
                      <a:r>
                        <a:rPr lang="en-US" sz="1100" dirty="0"/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No bit flip error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2156">
                <a:tc>
                  <a:txBody>
                    <a:bodyPr/>
                    <a:lstStyle/>
                    <a:p>
                      <a:r>
                        <a:rPr lang="en-US" sz="1100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Error in bottom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156">
                <a:tc>
                  <a:txBody>
                    <a:bodyPr/>
                    <a:lstStyle/>
                    <a:p>
                      <a:r>
                        <a:rPr lang="en-US" sz="11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Error in top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156">
                <a:tc>
                  <a:txBody>
                    <a:bodyPr/>
                    <a:lstStyle/>
                    <a:p>
                      <a:r>
                        <a:rPr lang="en-US" sz="11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Error in middle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Right Brace 14"/>
          <p:cNvSpPr/>
          <p:nvPr/>
        </p:nvSpPr>
        <p:spPr>
          <a:xfrm>
            <a:off x="6277812" y="4472815"/>
            <a:ext cx="45719" cy="798309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Graphic 16" descr="Question mark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92241" y="4516967"/>
            <a:ext cx="653273" cy="653273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5452745" y="2285365"/>
            <a:ext cx="0" cy="1083310"/>
          </a:xfrm>
          <a:prstGeom prst="line">
            <a:avLst/>
          </a:prstGeom>
          <a:ln w="12700" cap="flat" cmpd="sng" algn="ctr">
            <a:solidFill>
              <a:schemeClr val="accent1"/>
            </a:solidFill>
            <a:prstDash val="dash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Correcting Bit-flip error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/>
            </p:nvGraphicFramePr>
            <p:xfrm>
              <a:off x="6946317" y="2603816"/>
              <a:ext cx="3406944" cy="26405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3564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13564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13564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253185"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Syndrome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State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Correction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3185">
                    <a:tc>
                      <a:txBody>
                        <a:bodyPr/>
                        <a:lstStyle/>
                        <a:p>
                          <a:r>
                            <a:rPr lang="en-US" sz="1600" b="1" dirty="0"/>
                            <a:t>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d>
                                  <m:dPr>
                                    <m:begChr m:val="|"/>
                                    <m:endChr m:val="⟩"/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000</m:t>
                                    </m:r>
                                  </m:e>
                                </m:d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|111⟩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⊗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⊗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  <a:p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3185">
                    <a:tc>
                      <a:txBody>
                        <a:bodyPr/>
                        <a:lstStyle/>
                        <a:p>
                          <a:r>
                            <a:rPr lang="en-US" sz="1600" b="1" dirty="0"/>
                            <a:t>01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d>
                                  <m:dPr>
                                    <m:begChr m:val="|"/>
                                    <m:endChr m:val="⟩"/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001</m:t>
                                    </m:r>
                                  </m:e>
                                </m:d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|110⟩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⊗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⊗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53185">
                    <a:tc>
                      <a:txBody>
                        <a:bodyPr/>
                        <a:lstStyle/>
                        <a:p>
                          <a:r>
                            <a:rPr lang="en-US" sz="1600" b="1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d>
                                  <m:dPr>
                                    <m:begChr m:val="|"/>
                                    <m:endChr m:val="⟩"/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100</m:t>
                                    </m:r>
                                  </m:e>
                                </m:d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|011⟩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sz="1600" b="0" dirty="0"/>
                            <a:t>X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⊗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⊗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oMath>
                          </a14:m>
                          <a:endParaRPr lang="en-US" sz="1600" dirty="0"/>
                        </a:p>
                        <a:p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53185">
                    <a:tc>
                      <a:txBody>
                        <a:bodyPr/>
                        <a:lstStyle/>
                        <a:p>
                          <a:r>
                            <a:rPr lang="en-US" sz="1600" b="1" dirty="0"/>
                            <a:t>11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d>
                                  <m:dPr>
                                    <m:begChr m:val="|"/>
                                    <m:endChr m:val="⟩"/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010</m:t>
                                    </m:r>
                                  </m:e>
                                </m:d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|101⟩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⊗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⊗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/>
            </p:nvGraphicFramePr>
            <p:xfrm>
              <a:off x="6946317" y="2603816"/>
              <a:ext cx="3406944" cy="26405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35648"/>
                    <a:gridCol w="1135648"/>
                    <a:gridCol w="1135648"/>
                  </a:tblGrid>
                  <a:tr h="253185"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Syndrome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State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Correction</a:t>
                          </a:r>
                          <a:endParaRPr lang="en-US" sz="1600" dirty="0"/>
                        </a:p>
                      </a:txBody>
                      <a:tcPr/>
                    </a:tc>
                  </a:tr>
                  <a:tr h="579120">
                    <a:tc>
                      <a:txBody>
                        <a:bodyPr/>
                        <a:lstStyle/>
                        <a:p>
                          <a:r>
                            <a:rPr lang="en-US" sz="1600" b="1" dirty="0"/>
                            <a:t>00</a:t>
                          </a:r>
                          <a:endParaRPr lang="en-US" sz="1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</a:tr>
                  <a:tr h="579120">
                    <a:tc>
                      <a:txBody>
                        <a:bodyPr/>
                        <a:lstStyle/>
                        <a:p>
                          <a:r>
                            <a:rPr lang="en-US" sz="1600" b="1" dirty="0"/>
                            <a:t>01</a:t>
                          </a:r>
                          <a:endParaRPr lang="en-US" sz="1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</a:tr>
                  <a:tr h="579120">
                    <a:tc>
                      <a:txBody>
                        <a:bodyPr/>
                        <a:lstStyle/>
                        <a:p>
                          <a:r>
                            <a:rPr lang="en-US" sz="1600" b="1" dirty="0"/>
                            <a:t>10</a:t>
                          </a:r>
                          <a:endParaRPr lang="en-US" sz="1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</a:tr>
                  <a:tr h="579120">
                    <a:tc>
                      <a:txBody>
                        <a:bodyPr/>
                        <a:lstStyle/>
                        <a:p>
                          <a:r>
                            <a:rPr lang="en-US" sz="1600" b="1" dirty="0"/>
                            <a:t>11</a:t>
                          </a:r>
                          <a:endParaRPr lang="en-US" sz="1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6850" y="3000183"/>
            <a:ext cx="4629150" cy="18478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Detecting Phase-flip errors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b="65808"/>
          <a:stretch>
            <a:fillRect/>
          </a:stretch>
        </p:blipFill>
        <p:spPr>
          <a:xfrm>
            <a:off x="226306" y="2458462"/>
            <a:ext cx="6210300" cy="10682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982133" y="1986844"/>
                <a:ext cx="713612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3bit repetition code with encoding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000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111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dirty="0"/>
                  <a:t>fails</a:t>
                </a:r>
                <a:r>
                  <a:rPr lang="en-US" dirty="0"/>
                  <a:t> to detect </a:t>
                </a:r>
                <a:r>
                  <a:rPr lang="en-US" b="1" dirty="0"/>
                  <a:t>Z errors</a:t>
                </a:r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133" y="1986844"/>
                <a:ext cx="7136121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6" t="-153" r="6" b="8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t="37805"/>
          <a:stretch>
            <a:fillRect/>
          </a:stretch>
        </p:blipFill>
        <p:spPr>
          <a:xfrm>
            <a:off x="4650316" y="2356176"/>
            <a:ext cx="6210300" cy="19431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417181" y="3700788"/>
            <a:ext cx="2284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But we can do a trick!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t="16117"/>
          <a:stretch>
            <a:fillRect/>
          </a:stretch>
        </p:blipFill>
        <p:spPr>
          <a:xfrm>
            <a:off x="6436606" y="4250430"/>
            <a:ext cx="4858017" cy="162993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t="23035"/>
          <a:stretch>
            <a:fillRect/>
          </a:stretch>
        </p:blipFill>
        <p:spPr>
          <a:xfrm>
            <a:off x="397756" y="4842722"/>
            <a:ext cx="6038850" cy="11729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0" y="6123800"/>
            <a:ext cx="16355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John Watrous - IBM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982133" y="4220612"/>
                <a:ext cx="37482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000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111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en-US" b="1" i="0" dirty="0">
                    <a:latin typeface="+mj-lt"/>
                  </a:rPr>
                  <a:t>|+++⟩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lang="en-US" b="1" i="0" dirty="0">
                    <a:latin typeface="+mj-lt"/>
                  </a:rPr>
                  <a:t>|---⟩</a:t>
                </a:r>
                <a:endParaRPr lang="en-US" b="1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133" y="4220612"/>
                <a:ext cx="3748270" cy="369332"/>
              </a:xfrm>
              <a:prstGeom prst="rect">
                <a:avLst/>
              </a:prstGeom>
              <a:blipFill rotWithShape="1">
                <a:blip r:embed="rId9"/>
                <a:stretch>
                  <a:fillRect l="-11" t="-109" r="-5295" b="4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941884" y="5692496"/>
                <a:ext cx="138236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𝑍</m:t>
                      </m:r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𝑍</m:t>
                      </m:r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=|+⟩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1884" y="5692496"/>
                <a:ext cx="1382366" cy="646331"/>
              </a:xfrm>
              <a:prstGeom prst="rect">
                <a:avLst/>
              </a:prstGeom>
              <a:blipFill rotWithShape="1">
                <a:blip r:embed="rId10"/>
                <a:stretch>
                  <a:fillRect l="-23" t="-55" r="21" b="4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436606" y="5672814"/>
                <a:ext cx="133324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=|0⟩</m:t>
                      </m:r>
                    </m:oMath>
                  </m:oMathPara>
                </a14:m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=|1⟩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6606" y="5672814"/>
                <a:ext cx="1333249" cy="646331"/>
              </a:xfrm>
              <a:prstGeom prst="rect">
                <a:avLst/>
              </a:prstGeom>
              <a:blipFill rotWithShape="1">
                <a:blip r:embed="rId11"/>
                <a:stretch>
                  <a:fillRect l="-18" t="-56" r="47" b="4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9191" y="224163"/>
            <a:ext cx="10058400" cy="1450757"/>
          </a:xfrm>
        </p:spPr>
        <p:txBody>
          <a:bodyPr/>
          <a:lstStyle/>
          <a:p>
            <a:r>
              <a:rPr lang="en-US" dirty="0"/>
              <a:t>9 Qubit Shor code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87248" y="2085446"/>
            <a:ext cx="5638800" cy="2870377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63226" y="2626077"/>
            <a:ext cx="3454526" cy="187818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743708" y="1510851"/>
            <a:ext cx="4919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Detecting and Correcting </a:t>
            </a:r>
            <a:r>
              <a:rPr lang="en-US" b="1" dirty="0"/>
              <a:t>both X and Z errors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20273" y="5161734"/>
            <a:ext cx="202093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Other codes:</a:t>
            </a:r>
          </a:p>
          <a:p>
            <a:r>
              <a:rPr lang="en-US" dirty="0"/>
              <a:t>CSS codes</a:t>
            </a:r>
          </a:p>
          <a:p>
            <a:r>
              <a:rPr lang="en-US" dirty="0"/>
              <a:t>5-qbit Steane code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69826" y="5064196"/>
            <a:ext cx="2949039" cy="111840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41051" y="5367647"/>
            <a:ext cx="1254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Codewords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64812" y="2427136"/>
            <a:ext cx="721106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Stages of error correction</a:t>
            </a:r>
            <a:r>
              <a:rPr lang="en-US" sz="2400" dirty="0"/>
              <a:t> with keywords of each stage: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64270" y="3429294"/>
            <a:ext cx="598394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Encoding: Entanglement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Detecting error: Parity checkers &amp; Syndrome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Correcting error (decoding): X for bitflip or Z for phase flip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40581" y="5371908"/>
            <a:ext cx="486410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These parity checkers are what called </a:t>
            </a:r>
            <a:r>
              <a:rPr lang="en-US" i="1" dirty="0"/>
              <a:t>Stabilizers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Stabilizer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02346" y="2108707"/>
            <a:ext cx="89585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Stabilizer is operator(s) (each is tensored Paulis) that leaves some valued state </a:t>
            </a:r>
            <a:r>
              <a:rPr lang="en-US" b="1" dirty="0"/>
              <a:t>unchanged</a:t>
            </a:r>
            <a:r>
              <a:rPr lang="en-US" dirty="0"/>
              <a:t>.</a:t>
            </a:r>
          </a:p>
          <a:p>
            <a:pPr algn="ctr"/>
            <a:r>
              <a:rPr lang="en-US" dirty="0"/>
              <a:t>(+1 eigen value)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16437" y="4177930"/>
            <a:ext cx="1070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9538478" y="3270222"/>
                <a:ext cx="1530932" cy="1200329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𝑍</m:t>
                      </m:r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=|0⟩</m:t>
                      </m:r>
                    </m:oMath>
                  </m:oMathPara>
                </a14:m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𝑍</m:t>
                      </m:r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=|1⟩</m:t>
                      </m:r>
                    </m:oMath>
                  </m:oMathPara>
                </a14:m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=|+⟩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begChr m:val="|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=|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8478" y="3270222"/>
                <a:ext cx="1530932" cy="1200329"/>
              </a:xfrm>
              <a:prstGeom prst="rect">
                <a:avLst/>
              </a:prstGeom>
              <a:blipFill rotWithShape="1">
                <a:blip r:embed="rId2"/>
                <a:stretch>
                  <a:fillRect l="-549" t="-685" r="-492" b="-622"/>
                </a:stretch>
              </a:blip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594879" y="4134769"/>
                <a:ext cx="3283976" cy="50039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0" dirty="0">
                    <a:latin typeface="Cambria Math" panose="02040503050406030204" pitchFamily="18" charset="0"/>
                  </a:rPr>
                  <a:t>Consider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000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</m: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111</m:t>
                        </m:r>
                      </m:e>
                    </m:d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4879" y="4134769"/>
                <a:ext cx="3283976" cy="500393"/>
              </a:xfrm>
              <a:prstGeom prst="rect">
                <a:avLst/>
              </a:prstGeom>
              <a:blipFill rotWithShape="1">
                <a:blip r:embed="rId3"/>
                <a:stretch>
                  <a:fillRect l="-4" t="-57" r="16" b="5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838460" y="4710336"/>
            <a:ext cx="70091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state which is the </a:t>
            </a:r>
            <a:r>
              <a:rPr lang="en-US" b="1" dirty="0"/>
              <a:t>encoding</a:t>
            </a:r>
            <a:r>
              <a:rPr lang="en-US" dirty="0"/>
              <a:t> in 3bit repetition code is stabilized by: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0" y="5208198"/>
                <a:ext cx="6094070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𝑍</m:t>
                      </m:r>
                    </m:oMath>
                  </m:oMathPara>
                </a14:m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𝑍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208198"/>
                <a:ext cx="6094070" cy="1200329"/>
              </a:xfrm>
              <a:prstGeom prst="rect">
                <a:avLst/>
              </a:prstGeom>
              <a:blipFill rotWithShape="1">
                <a:blip r:embed="rId4"/>
                <a:stretch>
                  <a:fillRect t="-47" r="10" b="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Arrow: Right 12"/>
          <p:cNvSpPr/>
          <p:nvPr/>
        </p:nvSpPr>
        <p:spPr>
          <a:xfrm>
            <a:off x="4600259" y="5643810"/>
            <a:ext cx="486137" cy="39185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444408" y="5346698"/>
                <a:ext cx="6094070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𝑍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4408" y="5346698"/>
                <a:ext cx="6094070" cy="923330"/>
              </a:xfrm>
              <a:prstGeom prst="rect">
                <a:avLst/>
              </a:prstGeom>
              <a:blipFill rotWithShape="1">
                <a:blip r:embed="rId5"/>
                <a:stretch>
                  <a:fillRect l="-3" t="-69" r="2" b="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7574269" y="5629680"/>
            <a:ext cx="423227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“Independent set of stabilizer generators</a:t>
            </a:r>
            <a:r>
              <a:rPr lang="en-US" dirty="0"/>
              <a:t>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57815" y="2477029"/>
            <a:ext cx="17978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Stabilizer for 2D basis states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605999" y="2753938"/>
                <a:ext cx="152048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𝑺</m:t>
                      </m:r>
                      <m:d>
                        <m:dPr>
                          <m:begChr m:val="|"/>
                          <m:endChr m:val="⟩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𝝍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=+|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𝝍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5999" y="2753938"/>
                <a:ext cx="1520481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23" t="-156" b="9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838460" y="3297182"/>
            <a:ext cx="81120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stabilizer operator is Hermitian and can be measured as an </a:t>
            </a:r>
            <a:r>
              <a:rPr lang="en-US" b="1" dirty="0"/>
              <a:t>observable</a:t>
            </a:r>
            <a:r>
              <a:rPr lang="en-US" dirty="0"/>
              <a:t>.</a:t>
            </a:r>
            <a:endParaRPr lang="ar-E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eigenvalues of stabilizer operators in a stabilizer code are always </a:t>
            </a:r>
            <a:r>
              <a:rPr lang="en-US" b="1" dirty="0"/>
              <a:t>+1 or −1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 of Stabilizer in Detecting Errors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02506" y="2072393"/>
            <a:ext cx="8267700" cy="3819525"/>
          </a:xfrm>
          <a:prstGeom prst="rect">
            <a:avLst/>
          </a:prstGeom>
        </p:spPr>
      </p:pic>
      <p:sp>
        <p:nvSpPr>
          <p:cNvPr id="3" name="Arrow: Right 2"/>
          <p:cNvSpPr/>
          <p:nvPr/>
        </p:nvSpPr>
        <p:spPr>
          <a:xfrm>
            <a:off x="1229431" y="5486400"/>
            <a:ext cx="340924" cy="3264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Stabilizers as Observables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±1</m:t>
                    </m:r>
                  </m:oMath>
                </a14:m>
                <a:r>
                  <a:rPr lang="en-US" dirty="0"/>
                  <a:t> eigenvalues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t="-1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17286" y="1940560"/>
            <a:ext cx="8286750" cy="435680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9073" t="18255"/>
          <a:stretch>
            <a:fillRect/>
          </a:stretch>
        </p:blipFill>
        <p:spPr>
          <a:xfrm>
            <a:off x="180623" y="4624874"/>
            <a:ext cx="3397956" cy="14507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extBox 6"/>
          <p:cNvSpPr txBox="1"/>
          <p:nvPr/>
        </p:nvSpPr>
        <p:spPr>
          <a:xfrm>
            <a:off x="1205476" y="4207960"/>
            <a:ext cx="11267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Compare!</a:t>
            </a:r>
          </a:p>
        </p:txBody>
      </p:sp>
      <p:pic>
        <p:nvPicPr>
          <p:cNvPr id="9" name="Graphic 8" descr="Lightbulb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11667" y="3392388"/>
            <a:ext cx="914400" cy="914400"/>
          </a:xfrm>
          <a:prstGeom prst="rect">
            <a:avLst/>
          </a:prstGeom>
        </p:spPr>
      </p:pic>
      <p:sp>
        <p:nvSpPr>
          <p:cNvPr id="10" name="Explosion: 14 Points 9"/>
          <p:cNvSpPr/>
          <p:nvPr/>
        </p:nvSpPr>
        <p:spPr>
          <a:xfrm>
            <a:off x="58600" y="2029557"/>
            <a:ext cx="2506133" cy="1664665"/>
          </a:xfrm>
          <a:prstGeom prst="irregularSeal2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Idea of detecting errors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2786" y="2019080"/>
            <a:ext cx="8429625" cy="42862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9103275" y="2880029"/>
                <a:ext cx="2645029" cy="6646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000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</m: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111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3275" y="2880029"/>
                <a:ext cx="2645029" cy="664606"/>
              </a:xfrm>
              <a:prstGeom prst="rect">
                <a:avLst/>
              </a:prstGeom>
              <a:blipFill rotWithShape="1">
                <a:blip r:embed="rId4"/>
                <a:stretch>
                  <a:fillRect l="-21" t="-46" r="6" b="1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9379635" y="2141316"/>
            <a:ext cx="20923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Valid code space for all stabilizers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Box 2"/>
              <p:cNvSpPr txBox="1"/>
              <p:nvPr/>
            </p:nvSpPr>
            <p:spPr>
              <a:xfrm>
                <a:off x="8633460" y="4201795"/>
                <a:ext cx="406400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𝑍𝑍𝐼</m:t>
                      </m:r>
                    </m:oMath>
                  </m:oMathPara>
                </a14:m>
                <a:endParaRPr lang="en-US" i="1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𝐼𝑍𝑍</m:t>
                      </m:r>
                    </m:oMath>
                  </m:oMathPara>
                </a14:m>
                <a:endParaRPr lang="en-US" i="1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𝑋𝑋𝑋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3460" y="4201795"/>
                <a:ext cx="4064000" cy="92202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Stabilizer Codes &amp; Code space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097280" y="2112334"/>
                <a:ext cx="9323509" cy="645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For any </a:t>
                </a:r>
                <a:r>
                  <a:rPr lang="en-US" u="sng" dirty="0"/>
                  <a:t>stabilizer code</a:t>
                </a:r>
                <a:r>
                  <a:rPr lang="en-US" dirty="0"/>
                  <a:t>, the stabilizer generators (or stabilizers) are </a:t>
                </a:r>
                <a:r>
                  <a:rPr lang="en-US" b="1" dirty="0"/>
                  <a:t>n-qubit Pauli operations </a:t>
                </a:r>
                <a:r>
                  <a:rPr lang="en-US" dirty="0"/>
                  <a:t>(say,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should satisfy the following properties: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280" y="2112334"/>
                <a:ext cx="9323509" cy="645160"/>
              </a:xfrm>
              <a:prstGeom prst="rect">
                <a:avLst/>
              </a:prstGeom>
              <a:blipFill rotWithShape="1">
                <a:blip r:embed="rId3"/>
                <a:stretch>
                  <a:fillRect t="-50" r="5" b="5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574099" y="2906173"/>
                <a:ext cx="2932854" cy="6686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1. </a:t>
                </a:r>
                <a:r>
                  <a:rPr lang="en-US" b="1" dirty="0"/>
                  <a:t>Commute</a:t>
                </a:r>
                <a:r>
                  <a:rPr lang="en-US" dirty="0"/>
                  <a:t> with each other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4099" y="2906173"/>
                <a:ext cx="2932854" cy="668645"/>
              </a:xfrm>
              <a:prstGeom prst="rect">
                <a:avLst/>
              </a:prstGeom>
              <a:blipFill rotWithShape="1">
                <a:blip r:embed="rId4"/>
                <a:stretch>
                  <a:fillRect l="-15" t="-62" r="8" b="6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2574674" y="3629995"/>
            <a:ext cx="3551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2. Form </a:t>
            </a:r>
            <a:r>
              <a:rPr lang="en-US" b="1" dirty="0"/>
              <a:t>minimum independent </a:t>
            </a:r>
            <a:r>
              <a:rPr lang="en-US" dirty="0"/>
              <a:t>set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574099" y="4446148"/>
                <a:ext cx="4039183" cy="6581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3. Have </a:t>
                </a:r>
                <a:r>
                  <a:rPr lang="en-US" b="1" dirty="0"/>
                  <a:t>no trivial eigen state </a:t>
                </a:r>
                <a:r>
                  <a:rPr lang="en-US" dirty="0"/>
                  <a:t>(null state)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∉{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,…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4099" y="4446148"/>
                <a:ext cx="4039183" cy="658129"/>
              </a:xfrm>
              <a:prstGeom prst="rect">
                <a:avLst/>
              </a:prstGeom>
              <a:blipFill rotWithShape="1">
                <a:blip r:embed="rId5"/>
                <a:stretch>
                  <a:fillRect l="-11" t="-78" r="10" b="2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1097280" y="5227932"/>
                <a:ext cx="9817647" cy="645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u="sng" dirty="0"/>
                  <a:t>Code spac</a:t>
                </a:r>
                <a:r>
                  <a:rPr lang="en-US" dirty="0"/>
                  <a:t>e contains </a:t>
                </a:r>
                <a:r>
                  <a:rPr lang="en-US" b="1" dirty="0"/>
                  <a:t>all vector states </a:t>
                </a:r>
                <a:r>
                  <a:rPr lang="en-US" dirty="0"/>
                  <a:t>that can be </a:t>
                </a:r>
                <a:r>
                  <a:rPr lang="en-US" b="1" dirty="0"/>
                  <a:t>corrected</a:t>
                </a:r>
                <a:r>
                  <a:rPr lang="en-US" dirty="0"/>
                  <a:t> by the stabilizer generators. So, it is </a:t>
                </a:r>
                <a:r>
                  <a:rPr lang="en-US" b="1" dirty="0"/>
                  <a:t>defined by the stabilizers set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,…</m:t>
                    </m:r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𝒓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. It includes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lang="en-US" dirty="0"/>
                  <a:t> subspaces.</a:t>
                </a: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280" y="5227932"/>
                <a:ext cx="9817647" cy="645160"/>
              </a:xfrm>
              <a:prstGeom prst="rect">
                <a:avLst/>
              </a:prstGeom>
              <a:blipFill rotWithShape="1">
                <a:blip r:embed="rId6"/>
                <a:stretch>
                  <a:fillRect t="-95" r="6" b="9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6462" y="2817878"/>
            <a:ext cx="2188654" cy="19935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462" y="2603606"/>
            <a:ext cx="20306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9-qubit Shore code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Useful Formula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097280" y="2009241"/>
                <a:ext cx="9262595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G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iven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en-US" dirty="0"/>
                  <a:t> independent stabilizer generators acting on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dirty="0"/>
                  <a:t> physical qubits, the number of logical qubits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the stabilizer code can protect against errors can protect against errors is determined as: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280" y="2009241"/>
                <a:ext cx="9262595" cy="922020"/>
              </a:xfrm>
              <a:prstGeom prst="rect">
                <a:avLst/>
              </a:prstGeom>
              <a:blipFill rotWithShape="1">
                <a:blip r:embed="rId2"/>
                <a:stretch>
                  <a:fillRect t="-11" r="5" b="1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578582" y="2873273"/>
                <a:ext cx="1135380" cy="3683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8582" y="2873273"/>
                <a:ext cx="1135380" cy="368300"/>
              </a:xfrm>
              <a:prstGeom prst="rect">
                <a:avLst/>
              </a:prstGeom>
              <a:blipFill rotWithShape="1">
                <a:blip r:embed="rId3"/>
                <a:stretch>
                  <a:fillRect l="-20" t="-145" r="20" b="14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1097280" y="3367973"/>
            <a:ext cx="84718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dimension of the </a:t>
            </a:r>
            <a:r>
              <a:rPr lang="en-US" b="1" dirty="0"/>
              <a:t>valid code space (encoding)  </a:t>
            </a:r>
            <a:r>
              <a:rPr lang="en-US" dirty="0"/>
              <a:t>is determined from the relation: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186931" y="3853113"/>
                <a:ext cx="20995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𝑑𝑖𝑚𝑒𝑛𝑠𝑖𝑜𝑛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6931" y="3853113"/>
                <a:ext cx="2099549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18" t="-154" r="29" b="8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647860" y="4471787"/>
            <a:ext cx="3113403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4E9A"/>
                </a:solidFill>
              </a:rPr>
              <a:t>Example#1</a:t>
            </a:r>
            <a:endParaRPr lang="en-US" dirty="0">
              <a:solidFill>
                <a:srgbClr val="004E9A"/>
              </a:solidFill>
            </a:endParaRPr>
          </a:p>
          <a:p>
            <a:r>
              <a:rPr lang="en-US" b="1" dirty="0"/>
              <a:t>3-bit repetition code </a:t>
            </a:r>
            <a:r>
              <a:rPr lang="en-US" dirty="0"/>
              <a:t>(bit-flip)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44706" y="5428153"/>
                <a:ext cx="351971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𝑙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=1</m:t>
                    </m:r>
                  </m:oMath>
                </a14:m>
                <a:r>
                  <a:rPr lang="en-US" dirty="0"/>
                  <a:t> and the valid code space has dimension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706" y="5428153"/>
                <a:ext cx="3519713" cy="646331"/>
              </a:xfrm>
              <a:prstGeom prst="rect">
                <a:avLst/>
              </a:prstGeom>
              <a:blipFill rotWithShape="1">
                <a:blip r:embed="rId5"/>
                <a:stretch>
                  <a:fillRect l="-6" t="-27" r="3" b="1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8430739" y="4471850"/>
                <a:ext cx="3519713" cy="1477328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rgbClr val="FF0000"/>
                    </a:solidFill>
                  </a:rPr>
                  <a:t>Exercise</a:t>
                </a:r>
                <a:endParaRPr lang="en-US" dirty="0">
                  <a:solidFill>
                    <a:srgbClr val="FF0000"/>
                  </a:solidFill>
                </a:endParaRPr>
              </a:p>
              <a:p>
                <a:r>
                  <a:rPr lang="en-US" dirty="0"/>
                  <a:t>Do for </a:t>
                </a:r>
                <a:r>
                  <a:rPr lang="en-US" b="1" dirty="0" err="1"/>
                  <a:t>ebit</a:t>
                </a:r>
                <a:r>
                  <a:rPr lang="en-US" b="1" dirty="0"/>
                  <a:t> stabilizer code </a:t>
                </a:r>
                <a:r>
                  <a:rPr lang="en-US" dirty="0"/>
                  <a:t>(encoding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dirty="0"/>
                  <a:t>state)</a:t>
                </a:r>
              </a:p>
              <a:p>
                <a:r>
                  <a:rPr lang="en-US" dirty="0"/>
                  <a:t> for correcting both bit and phase flips.</a:t>
                </a: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0739" y="4471850"/>
                <a:ext cx="3519713" cy="1477328"/>
              </a:xfrm>
              <a:prstGeom prst="rect">
                <a:avLst/>
              </a:prstGeom>
              <a:blipFill rotWithShape="1">
                <a:blip r:embed="rId6"/>
                <a:stretch>
                  <a:fillRect l="-230" t="-571" r="-224" b="-525"/>
                </a:stretch>
              </a:blipFill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4961914" y="4471788"/>
            <a:ext cx="1913665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4E9A"/>
                </a:solidFill>
              </a:rPr>
              <a:t>Example#2</a:t>
            </a:r>
          </a:p>
          <a:p>
            <a:r>
              <a:rPr lang="en-US" b="1" dirty="0"/>
              <a:t>9-qubit Shor code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4532459" y="5428153"/>
                <a:ext cx="3519713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=9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 valid code space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logical qubit.</a:t>
                </a: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2459" y="5428153"/>
                <a:ext cx="3519713" cy="646331"/>
              </a:xfrm>
              <a:prstGeom prst="rect">
                <a:avLst/>
              </a:prstGeom>
              <a:blipFill rotWithShape="1">
                <a:blip r:embed="rId7"/>
                <a:stretch>
                  <a:fillRect l="-13" t="-27" r="11" b="1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6" name="Graphic 25" descr="Winking face with solid fill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721852" y="4106240"/>
            <a:ext cx="457200" cy="4572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16695" y="3863975"/>
            <a:ext cx="2147570" cy="6045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28135" y="1370330"/>
            <a:ext cx="5729605" cy="631190"/>
          </a:xfrm>
        </p:spPr>
        <p:txBody>
          <a:bodyPr/>
          <a:lstStyle/>
          <a:p>
            <a:r>
              <a:rPr lang="en-US" sz="3200" dirty="0"/>
              <a:t>Graphing stabilizer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30455" y="6151419"/>
            <a:ext cx="16615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Austun Fowler - Google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128940" y="3579349"/>
                <a:ext cx="868379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𝑍𝑍𝐼</m:t>
                      </m:r>
                    </m:oMath>
                  </m:oMathPara>
                </a14:m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𝐼𝑍𝑍</m:t>
                      </m:r>
                    </m:oMath>
                  </m:oMathPara>
                </a14:m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𝑋𝑋𝑋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8940" y="3579349"/>
                <a:ext cx="868379" cy="923330"/>
              </a:xfrm>
              <a:prstGeom prst="rect">
                <a:avLst/>
              </a:prstGeom>
              <a:blipFill rotWithShape="1">
                <a:blip r:embed="rId2"/>
                <a:stretch>
                  <a:fillRect l="-48" t="-53" r="14" b="5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097280" y="2471542"/>
                <a:ext cx="2931700" cy="6646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000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|111⟩)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280" y="2471542"/>
                <a:ext cx="2931700" cy="664606"/>
              </a:xfrm>
              <a:prstGeom prst="rect">
                <a:avLst/>
              </a:prstGeom>
              <a:blipFill rotWithShape="1">
                <a:blip r:embed="rId3"/>
                <a:stretch>
                  <a:fillRect t="-18" r="18" b="7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522892" y="2286876"/>
            <a:ext cx="1148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Codeword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09606" y="2286876"/>
            <a:ext cx="3343275" cy="2924175"/>
          </a:xfrm>
          <a:prstGeom prst="rect">
            <a:avLst/>
          </a:prstGeom>
        </p:spPr>
      </p:pic>
      <p:sp>
        <p:nvSpPr>
          <p:cNvPr id="4" name="Title 1"/>
          <p:cNvSpPr>
            <a:spLocks noGrp="1"/>
          </p:cNvSpPr>
          <p:nvPr/>
        </p:nvSpPr>
        <p:spPr>
          <a:xfrm>
            <a:off x="1097280" y="218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Introducing the Surface Code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Introducing the Surface Code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b="38846"/>
          <a:stretch>
            <a:fillRect/>
          </a:stretch>
        </p:blipFill>
        <p:spPr>
          <a:xfrm>
            <a:off x="3119252" y="2338555"/>
            <a:ext cx="4673745" cy="335642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9812" y="5694977"/>
            <a:ext cx="1952625" cy="7334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9031" y="2553474"/>
            <a:ext cx="1504950" cy="225742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671458" y="2312733"/>
            <a:ext cx="3301341" cy="189827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51067" y="5294867"/>
            <a:ext cx="22681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Topological code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671458" y="4304937"/>
            <a:ext cx="3301340" cy="189887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565992"/>
          </a:xfrm>
        </p:spPr>
        <p:txBody>
          <a:bodyPr/>
          <a:lstStyle/>
          <a:p>
            <a:r>
              <a:rPr lang="en-US" dirty="0"/>
              <a:t>Introducing the Surface Code Logical Operations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702" y="2546071"/>
            <a:ext cx="2476500" cy="31527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50770" y="5725917"/>
                <a:ext cx="23274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𝐼𝑋𝐼𝐼𝑋𝐼𝐼𝑋𝐼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770" y="5725917"/>
                <a:ext cx="2327432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10" t="-33" r="16" b="14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7480302" y="1483562"/>
            <a:ext cx="3786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Error-tolerant quantum computations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83698" y="2546071"/>
            <a:ext cx="2183949" cy="31527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608825" y="5028003"/>
            <a:ext cx="3200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Commute with all stabilizers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7647" y="2546071"/>
            <a:ext cx="2657475" cy="31527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5698242" y="6014026"/>
                <a:ext cx="25502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𝐼𝐼𝐼𝐼𝑍𝑍𝑍𝐼𝐼𝐼</m:t>
                          </m:r>
                          <m:d>
                            <m:dPr>
                              <m:begChr m:val="|"/>
                              <m:endChr m:val="⟩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|"/>
                              <m:endChr m:val="⟩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8242" y="6014026"/>
                <a:ext cx="2550250" cy="369332"/>
              </a:xfrm>
              <a:prstGeom prst="rect">
                <a:avLst/>
              </a:prstGeom>
              <a:blipFill rotWithShape="1">
                <a:blip r:embed="rId7"/>
                <a:stretch>
                  <a:fillRect l="-15" t="-156" r="19" b="9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Picture 20"/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229256" y="3608281"/>
            <a:ext cx="3829050" cy="3619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3019490" y="5658962"/>
                <a:ext cx="23883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𝐼𝐼𝑋𝐼𝑋𝐼𝑋𝐼𝐼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9490" y="5658962"/>
                <a:ext cx="2388346" cy="369332"/>
              </a:xfrm>
              <a:prstGeom prst="rect">
                <a:avLst/>
              </a:prstGeom>
              <a:blipFill rotWithShape="1">
                <a:blip r:embed="rId10"/>
                <a:stretch>
                  <a:fillRect l="-3" t="-129" r="7" b="6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698242" y="5725917"/>
                <a:ext cx="25310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𝐼𝐼𝐼𝐼𝑍𝑍𝑍𝐼𝐼𝐼</m:t>
                          </m:r>
                          <m:d>
                            <m:dPr>
                              <m:begChr m:val="|"/>
                              <m:endChr m:val="⟩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  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8242" y="5725917"/>
                <a:ext cx="2531014" cy="369332"/>
              </a:xfrm>
              <a:prstGeom prst="rect">
                <a:avLst/>
              </a:prstGeom>
              <a:blipFill rotWithShape="1">
                <a:blip r:embed="rId11"/>
                <a:stretch>
                  <a:fillRect l="-15" t="-33" r="11" b="14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3019490" y="6014026"/>
                <a:ext cx="23883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𝐼𝐼𝑋𝐼𝑋𝐼𝑋𝐼𝐼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9490" y="6014026"/>
                <a:ext cx="2388346" cy="369332"/>
              </a:xfrm>
              <a:prstGeom prst="rect">
                <a:avLst/>
              </a:prstGeom>
              <a:blipFill rotWithShape="1">
                <a:blip r:embed="rId12"/>
                <a:stretch>
                  <a:fillRect l="-3" t="-156" r="7" b="9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509092" y="6014026"/>
                <a:ext cx="20774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092" y="6014026"/>
                <a:ext cx="2077427" cy="369332"/>
              </a:xfrm>
              <a:prstGeom prst="rect">
                <a:avLst/>
              </a:prstGeom>
              <a:blipFill rotWithShape="1">
                <a:blip r:embed="rId13"/>
                <a:stretch>
                  <a:fillRect l="-22" t="-156" r="8" b="9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/>
          <p:cNvSpPr txBox="1"/>
          <p:nvPr/>
        </p:nvSpPr>
        <p:spPr>
          <a:xfrm>
            <a:off x="9373577" y="3141694"/>
            <a:ext cx="1070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Example: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Surface Code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b="32553"/>
          <a:stretch>
            <a:fillRect/>
          </a:stretch>
        </p:blipFill>
        <p:spPr>
          <a:xfrm>
            <a:off x="468458" y="2668835"/>
            <a:ext cx="2609850" cy="22356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44612" y="2018431"/>
            <a:ext cx="3308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Don’t need qubit numberings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3078308" y="1975667"/>
            <a:ext cx="3803885" cy="3514725"/>
            <a:chOff x="3869058" y="2029309"/>
            <a:chExt cx="3803885" cy="3514725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harpenSoften amount="25000"/>
                      </a14:imgEffect>
                    </a14:imgLayer>
                  </a14:imgProps>
                </a:ext>
              </a:extLst>
            </a:blip>
            <a:srcRect l="7115"/>
            <a:stretch>
              <a:fillRect/>
            </a:stretch>
          </p:blipFill>
          <p:spPr>
            <a:xfrm>
              <a:off x="4346368" y="2029309"/>
              <a:ext cx="3326575" cy="351472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/>
                <p:cNvSpPr txBox="1"/>
                <p:nvPr/>
              </p:nvSpPr>
              <p:spPr>
                <a:xfrm>
                  <a:off x="3869058" y="3693226"/>
                  <a:ext cx="47731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TextBox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69058" y="3693226"/>
                  <a:ext cx="477310" cy="369332"/>
                </a:xfrm>
                <a:prstGeom prst="rect">
                  <a:avLst/>
                </a:prstGeom>
                <a:blipFill rotWithShape="1">
                  <a:blip r:embed="rId7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1" name="TextBox 10"/>
          <p:cNvSpPr txBox="1"/>
          <p:nvPr/>
        </p:nvSpPr>
        <p:spPr>
          <a:xfrm>
            <a:off x="4036114" y="5446883"/>
            <a:ext cx="1762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Distance 5 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10866" y="5538013"/>
            <a:ext cx="28174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Arbitrary distance surface code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59503" y="2406263"/>
            <a:ext cx="2958441" cy="30406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64924" y="5466652"/>
            <a:ext cx="1762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Distance 3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5244" y="1552694"/>
            <a:ext cx="1798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Topological code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qubits -Measure qubits Interaction Timing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t="957"/>
          <a:stretch>
            <a:fillRect/>
          </a:stretch>
        </p:blipFill>
        <p:spPr>
          <a:xfrm>
            <a:off x="748146" y="2084553"/>
            <a:ext cx="9737766" cy="418039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qubits -Measure qubits Interaction			</a:t>
            </a:r>
            <a:r>
              <a:rPr lang="en-US" b="1" i="1" dirty="0"/>
              <a:t>contd</a:t>
            </a:r>
            <a:r>
              <a:rPr lang="en-US" dirty="0"/>
              <a:t>.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1945783" y="2046616"/>
            <a:ext cx="7458075" cy="4271058"/>
            <a:chOff x="1945783" y="2046616"/>
            <a:chExt cx="7458075" cy="4271058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5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945783" y="2046616"/>
              <a:ext cx="7458075" cy="4271058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4"/>
            <a:srcRect t="86036"/>
            <a:stretch>
              <a:fillRect/>
            </a:stretch>
          </p:blipFill>
          <p:spPr>
            <a:xfrm>
              <a:off x="2280718" y="2046616"/>
              <a:ext cx="4371975" cy="59826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t="2769"/>
          <a:stretch>
            <a:fillRect/>
          </a:stretch>
        </p:blipFill>
        <p:spPr>
          <a:xfrm>
            <a:off x="1726988" y="1941689"/>
            <a:ext cx="8934450" cy="4368800"/>
          </a:xfrm>
          <a:prstGeom prst="rect">
            <a:avLst/>
          </a:prstGeom>
        </p:spPr>
      </p:pic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096963" y="287338"/>
            <a:ext cx="10058400" cy="1449387"/>
          </a:xfrm>
        </p:spPr>
        <p:txBody>
          <a:bodyPr/>
          <a:lstStyle/>
          <a:p>
            <a:r>
              <a:rPr lang="en-US" dirty="0"/>
              <a:t>Data qubits -Measure qubits Interaction			</a:t>
            </a:r>
            <a:r>
              <a:rPr lang="en-US" b="1" i="1" dirty="0"/>
              <a:t>contd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Surface Code Design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t="2363"/>
          <a:stretch>
            <a:fillRect/>
          </a:stretch>
        </p:blipFill>
        <p:spPr>
          <a:xfrm>
            <a:off x="1962150" y="1964265"/>
            <a:ext cx="8267700" cy="4361039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Surface code design	</a:t>
            </a:r>
            <a:r>
              <a:rPr lang="en-US" i="1" dirty="0"/>
              <a:t>	contd.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6862" y="2133602"/>
            <a:ext cx="8420302" cy="41622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943059" y="2284568"/>
            <a:ext cx="253439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Need </a:t>
            </a:r>
            <a:r>
              <a:rPr lang="en-US" b="1" dirty="0"/>
              <a:t>global gate order </a:t>
            </a:r>
            <a:r>
              <a:rPr lang="en-US" dirty="0"/>
              <a:t>that preserves the </a:t>
            </a:r>
            <a:r>
              <a:rPr lang="en-US" b="1" dirty="0"/>
              <a:t>last two qubits touched rules </a:t>
            </a:r>
            <a:r>
              <a:rPr lang="en-US" dirty="0"/>
              <a:t>and is perfectly parallel.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Surface Code Memory Experiment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62231" y="3320307"/>
            <a:ext cx="6731256" cy="249465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064304" y="2216355"/>
                <a:ext cx="7127110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Circuits that detect bit flips (Z stabilizers) have </a:t>
                </a:r>
                <a:r>
                  <a:rPr lang="en-US" b="1" dirty="0"/>
                  <a:t>single measurement </a:t>
                </a:r>
              </a:p>
              <a:p>
                <a:r>
                  <a:rPr lang="en-US" dirty="0"/>
                  <a:t>detectors at the beginning as data qubits </a:t>
                </a:r>
                <a:r>
                  <a:rPr lang="en-US" b="1" dirty="0"/>
                  <a:t>initialized to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should </a:t>
                </a:r>
              </a:p>
              <a:p>
                <a:r>
                  <a:rPr lang="en-US" dirty="0"/>
                  <a:t>lead to the first measurement being </a:t>
                </a:r>
                <a:r>
                  <a:rPr lang="en-US" b="1" dirty="0">
                    <a:solidFill>
                      <a:srgbClr val="00B050"/>
                    </a:solidFill>
                  </a:rPr>
                  <a:t>0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4304" y="2216355"/>
                <a:ext cx="7127110" cy="923330"/>
              </a:xfrm>
              <a:prstGeom prst="rect">
                <a:avLst/>
              </a:prstGeom>
              <a:blipFill rotWithShape="1">
                <a:blip r:embed="rId4"/>
                <a:stretch>
                  <a:fillRect l="-8" t="-22" r="6" b="2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096963" y="287338"/>
            <a:ext cx="10058400" cy="1449387"/>
          </a:xfrm>
        </p:spPr>
        <p:txBody>
          <a:bodyPr/>
          <a:lstStyle/>
          <a:p>
            <a:r>
              <a:rPr lang="en-US" dirty="0"/>
              <a:t>Quantum Error Detection</a:t>
            </a:r>
            <a:endParaRPr lang="en-US" i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t="7562" b="5863"/>
          <a:stretch>
            <a:fillRect/>
          </a:stretch>
        </p:blipFill>
        <p:spPr>
          <a:xfrm>
            <a:off x="632493" y="3900668"/>
            <a:ext cx="5463507" cy="212974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664598" y="2164466"/>
            <a:ext cx="19439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1" dirty="0"/>
              <a:t>Detector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36165" y="2719788"/>
            <a:ext cx="8179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Sequential pairs of measurements </a:t>
            </a:r>
            <a:r>
              <a:rPr lang="en-US" dirty="0"/>
              <a:t>with an </a:t>
            </a:r>
            <a:r>
              <a:rPr lang="en-US" b="1" dirty="0"/>
              <a:t>expected parity </a:t>
            </a:r>
            <a:r>
              <a:rPr lang="en-US" dirty="0"/>
              <a:t>in the absence of errors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8592" y="3768881"/>
            <a:ext cx="5275427" cy="226152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802801" y="3459776"/>
            <a:ext cx="3098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Repetition code with no errors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29507"/>
          <a:stretch>
            <a:fillRect/>
          </a:stretch>
        </p:blipFill>
        <p:spPr>
          <a:xfrm>
            <a:off x="124966" y="2777458"/>
            <a:ext cx="1943994" cy="1023824"/>
          </a:xfrm>
          <a:prstGeom prst="rect">
            <a:avLst/>
          </a:prstGeom>
        </p:spPr>
      </p:pic>
      <p:cxnSp>
        <p:nvCxnSpPr>
          <p:cNvPr id="18" name="Straight Arrow Connector 17"/>
          <p:cNvCxnSpPr/>
          <p:nvPr/>
        </p:nvCxnSpPr>
        <p:spPr>
          <a:xfrm>
            <a:off x="338667" y="3900668"/>
            <a:ext cx="293826" cy="6148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216161" y="1519044"/>
            <a:ext cx="1009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Detector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Quantum Error Detection</a:t>
            </a:r>
            <a:endParaRPr lang="en-US" i="1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0573" y="3429000"/>
            <a:ext cx="5378410" cy="1961041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3109" y="3428999"/>
            <a:ext cx="5378410" cy="196104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90484" y="5486687"/>
            <a:ext cx="2141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One detection Event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97511" y="5486687"/>
            <a:ext cx="2504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Two detection Events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89410" y="2593690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Detector with an</a:t>
            </a:r>
            <a:r>
              <a:rPr lang="en-US" b="1" dirty="0"/>
              <a:t> </a:t>
            </a:r>
            <a:r>
              <a:rPr lang="en-US" b="1" dirty="0">
                <a:solidFill>
                  <a:srgbClr val="FF0000"/>
                </a:solidFill>
              </a:rPr>
              <a:t>unexpected</a:t>
            </a:r>
            <a:r>
              <a:rPr lang="en-US" b="1" dirty="0"/>
              <a:t> </a:t>
            </a:r>
            <a:r>
              <a:rPr lang="en-US" b="1" dirty="0">
                <a:solidFill>
                  <a:srgbClr val="FF0000"/>
                </a:solidFill>
              </a:rPr>
              <a:t>parity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89410" y="2008915"/>
            <a:ext cx="31991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1" dirty="0"/>
              <a:t>Detection Event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8518" y="5952665"/>
            <a:ext cx="31534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Error is in the </a:t>
            </a:r>
            <a:r>
              <a:rPr lang="en-US" u="sng" dirty="0"/>
              <a:t>upper data qubit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72799" y="5856017"/>
            <a:ext cx="3249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Error is in the </a:t>
            </a:r>
            <a:r>
              <a:rPr lang="en-US" u="sng" dirty="0"/>
              <a:t>middle data qubit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39111" y="1503806"/>
            <a:ext cx="1716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Detection Event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Quantum Error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5689" y="1552694"/>
            <a:ext cx="2968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Resolving Unknown Errors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39720" y="2769999"/>
            <a:ext cx="5278054" cy="29337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854025" y="2157535"/>
                <a:ext cx="609407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Use </a:t>
                </a:r>
                <a:r>
                  <a:rPr lang="en-US" b="1" dirty="0"/>
                  <a:t>Minimum Weight Perfect Matching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𝑤𝑒𝑖𝑔h𝑡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025" y="2157535"/>
                <a:ext cx="6094070" cy="646331"/>
              </a:xfrm>
              <a:prstGeom prst="rect">
                <a:avLst/>
              </a:prstGeom>
              <a:blipFill rotWithShape="1">
                <a:blip r:embed="rId4"/>
                <a:stretch>
                  <a:fillRect l="-10" t="-68" r="9" b="5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5877045" y="2249408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Won’t chose the low probability diagonal edge in this case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t="2118"/>
          <a:stretch>
            <a:fillRect/>
          </a:stretch>
        </p:blipFill>
        <p:spPr>
          <a:xfrm>
            <a:off x="6126480" y="2695856"/>
            <a:ext cx="5667874" cy="287157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538529" y="2798924"/>
            <a:ext cx="3449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18" name="TextBox 17"/>
          <p:cNvSpPr txBox="1"/>
          <p:nvPr/>
        </p:nvSpPr>
        <p:spPr>
          <a:xfrm flipV="1">
            <a:off x="7576246" y="4373609"/>
            <a:ext cx="5611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2329698" y="5677899"/>
                <a:ext cx="6504288" cy="69185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n-US" sz="1600" dirty="0"/>
                  <a:t>Provided errors are </a:t>
                </a:r>
                <a:r>
                  <a:rPr lang="en-US" sz="1600" b="1" dirty="0"/>
                  <a:t>rare</a:t>
                </a:r>
                <a:r>
                  <a:rPr lang="en-US" sz="1600" dirty="0"/>
                  <a:t>, </a:t>
                </a:r>
                <a:r>
                  <a:rPr lang="en-US" sz="1600" b="1" dirty="0"/>
                  <a:t>random</a:t>
                </a:r>
                <a:r>
                  <a:rPr lang="en-US" sz="1600" dirty="0"/>
                  <a:t>, and </a:t>
                </a:r>
                <a:r>
                  <a:rPr lang="en-US" sz="1600" b="1" dirty="0"/>
                  <a:t>independent</a:t>
                </a:r>
                <a:r>
                  <a:rPr lang="en-US" sz="1600" dirty="0"/>
                  <a:t>, d data qubits enables the detection and correction (in software) of up to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/>
                  <a:t>X errors</a:t>
                </a: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9698" y="5677899"/>
                <a:ext cx="6504288" cy="691856"/>
              </a:xfrm>
              <a:prstGeom prst="rect">
                <a:avLst/>
              </a:prstGeom>
              <a:blipFill rotWithShape="1">
                <a:blip r:embed="rId7"/>
                <a:stretch>
                  <a:fillRect l="-125" t="-1154" r="-119" b="-1091"/>
                </a:stretch>
              </a:blip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938" y="375900"/>
            <a:ext cx="11520812" cy="1450757"/>
          </a:xfrm>
        </p:spPr>
        <p:txBody>
          <a:bodyPr/>
          <a:lstStyle/>
          <a:p>
            <a:r>
              <a:rPr lang="fr-FR" dirty="0"/>
              <a:t>Surface Code Error Detection: 3D graphs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10599" y="2000055"/>
            <a:ext cx="5534025" cy="40290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941689" y="5486400"/>
            <a:ext cx="1168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Qubit chip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Surface Code Error Detection: 3D graphs				</a:t>
            </a:r>
            <a:r>
              <a:rPr lang="fr-FR" i="1" dirty="0" err="1"/>
              <a:t>contd</a:t>
            </a:r>
            <a:r>
              <a:rPr lang="fr-FR" i="1" dirty="0"/>
              <a:t>.</a:t>
            </a:r>
            <a:endParaRPr lang="en-US" i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50066" y="2106612"/>
            <a:ext cx="7704492" cy="40671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954558" y="3245524"/>
            <a:ext cx="305571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thickness</a:t>
            </a:r>
            <a:r>
              <a:rPr lang="en-US" dirty="0"/>
              <a:t> of each edge is proportional to the total </a:t>
            </a:r>
            <a:r>
              <a:rPr lang="en-US" b="1" dirty="0"/>
              <a:t>probability</a:t>
            </a:r>
            <a:r>
              <a:rPr lang="en-US" dirty="0"/>
              <a:t> of all errors leading to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85396" y="4938434"/>
            <a:ext cx="35248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Resolving by Minimum Weight Perfect Matching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8017" y="2106981"/>
            <a:ext cx="42297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Surface code circuits are rather large, Even for distance 5, the surface code is a complex 49 qubit circuit requiring </a:t>
            </a:r>
            <a:r>
              <a:rPr lang="en-US" b="1" dirty="0"/>
              <a:t>complex error analysis and decoding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33882" y="3307310"/>
            <a:ext cx="3772056" cy="286464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6239" y="1999885"/>
            <a:ext cx="2686050" cy="3905250"/>
          </a:xfrm>
          <a:prstGeom prst="rect">
            <a:avLst/>
          </a:prstGeom>
          <a:solidFill>
            <a:srgbClr val="FFFFFF">
              <a:shade val="85000"/>
            </a:srgbClr>
          </a:solidFill>
          <a:ln w="101600" cap="sq">
            <a:solidFill>
              <a:srgbClr val="FDFDFD"/>
            </a:solidFill>
            <a:miter lim="800000"/>
            <a:headEnd/>
            <a:tailEnd/>
          </a:ln>
          <a:effectLst>
            <a:outerShdw blurRad="57150" dist="37500" dir="7560000" sy="98000" kx="110000" ky="200000" algn="tl" rotWithShape="0">
              <a:srgbClr val="000000">
                <a:alpha val="20000"/>
              </a:srgbClr>
            </a:outerShdw>
          </a:effectLst>
          <a:scene3d>
            <a:camera prst="perspectiveRelaxed">
              <a:rot lat="18960000" lon="0" rev="0"/>
            </a:camera>
            <a:lightRig rig="twoPt" dir="t">
              <a:rot lat="0" lon="0" rev="7200000"/>
            </a:lightRig>
          </a:scene3d>
          <a:sp3d prstMaterial="matte">
            <a:bevelT w="22860" h="12700"/>
            <a:contourClr>
              <a:srgbClr val="FFFFFF"/>
            </a:contourClr>
          </a:sp3d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700437" y="2537812"/>
            <a:ext cx="3971925" cy="308548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STIM 	Results</a:t>
            </a:r>
            <a:endParaRPr lang="en-US" i="1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t="4142"/>
          <a:stretch>
            <a:fillRect/>
          </a:stretch>
        </p:blipFill>
        <p:spPr>
          <a:xfrm>
            <a:off x="2504171" y="2077155"/>
            <a:ext cx="6457313" cy="418028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80724" y="3705631"/>
            <a:ext cx="17572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Threshold</a:t>
            </a:r>
            <a:endParaRPr lang="en-US" b="1" dirty="0"/>
          </a:p>
        </p:txBody>
      </p:sp>
      <p:sp>
        <p:nvSpPr>
          <p:cNvPr id="6" name="TextBox 5"/>
          <p:cNvSpPr txBox="1"/>
          <p:nvPr/>
        </p:nvSpPr>
        <p:spPr>
          <a:xfrm>
            <a:off x="9493955" y="2781112"/>
            <a:ext cx="2314223" cy="1753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Logical errors </a:t>
            </a:r>
            <a:r>
              <a:rPr lang="en-US" b="1" dirty="0"/>
              <a:t>exponentially suppressed </a:t>
            </a:r>
            <a:r>
              <a:rPr lang="en-US" dirty="0"/>
              <a:t>with code distance up to the threshold point.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LDPC codes</a:t>
            </a:r>
            <a:br>
              <a:rPr lang="en-US">
                <a:sym typeface="+mn-ea"/>
              </a:rPr>
            </a:br>
            <a:r>
              <a:rPr lang="en-US">
                <a:sym typeface="+mn-ea"/>
              </a:rPr>
              <a:t>Low Density Parity Checks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753360"/>
            <a:ext cx="4533900" cy="2632075"/>
          </a:xfrm>
        </p:spPr>
        <p:txBody>
          <a:bodyPr>
            <a:normAutofit/>
          </a:bodyPr>
          <a:lstStyle/>
          <a:p>
            <a:pPr marL="457200" lvl="1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US" sz="2000"/>
              <a:t>Properties: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/>
              <a:t>Not too many physical qubits involved in parity check at once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/>
              <a:t>Physical qubits shouldn’t be involved in too many of the checks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6470" y="2108200"/>
            <a:ext cx="5405120" cy="327723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9545" y="5523230"/>
            <a:ext cx="5429250" cy="67627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8950960" y="2969260"/>
            <a:ext cx="2891155" cy="1322070"/>
          </a:xfrm>
          <a:prstGeom prst="rect">
            <a:avLst/>
          </a:prstGeom>
          <a:ln w="3175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sz="1600" b="1"/>
              <a:t>[[n,k,d]]</a:t>
            </a:r>
          </a:p>
          <a:p>
            <a:endParaRPr sz="1600"/>
          </a:p>
          <a:p>
            <a:pPr>
              <a:buFont typeface="Arial" panose="020B0604020202020204"/>
              <a:buChar char="•"/>
            </a:pPr>
            <a:r>
              <a:rPr sz="1600"/>
              <a:t>n = number of physical qubits</a:t>
            </a:r>
          </a:p>
          <a:p>
            <a:pPr>
              <a:buFont typeface="Arial" panose="020B0604020202020204"/>
              <a:buChar char="•"/>
            </a:pPr>
            <a:r>
              <a:rPr sz="1600"/>
              <a:t>k = number of logical qubits</a:t>
            </a:r>
          </a:p>
          <a:p>
            <a:pPr>
              <a:buFont typeface="Arial" panose="020B0604020202020204"/>
              <a:buChar char="•"/>
            </a:pPr>
            <a:r>
              <a:rPr sz="1600"/>
              <a:t>d = code distance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6096000" y="150495"/>
            <a:ext cx="58826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i="1"/>
              <a:t>Sergey Bravyi and others,  paper: High-threshold and low-overhead fault-tolerant quantum memory, </a:t>
            </a:r>
            <a:r>
              <a:rPr lang="en-US" altLang="en-US" b="1" i="1"/>
              <a:t>Nature 2024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820354" y="2537178"/>
            <a:ext cx="329635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F4F4D41-822D-40F2-A7AC-E4E6CB36CA7A}">
  <ds:schemaRefs/>
</ds:datastoreItem>
</file>

<file path=customXml/itemProps2.xml><?xml version="1.0" encoding="utf-8"?>
<ds:datastoreItem xmlns:ds="http://schemas.openxmlformats.org/officeDocument/2006/customXml" ds:itemID="{C5A59D56-2157-4202-9D02-F44E447A241D}">
  <ds:schemaRefs/>
</ds:datastoreItem>
</file>

<file path=customXml/itemProps3.xml><?xml version="1.0" encoding="utf-8"?>
<ds:datastoreItem xmlns:ds="http://schemas.openxmlformats.org/officeDocument/2006/customXml" ds:itemID="{19DAD249-BF80-48EF-9AFB-36A11BCDC2CE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{AE3DDD22-56EC-48A9-A914-1F5BC06DE3AB}TFf0a5ceae-4542-492d-822e-d65a94fb0e1e2a8bfc10_win32-70e309b38cd8</Template>
  <TotalTime>159</TotalTime>
  <Words>1530</Words>
  <Application>Microsoft Office PowerPoint</Application>
  <PresentationFormat>Widescreen</PresentationFormat>
  <Paragraphs>243</Paragraphs>
  <Slides>40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7" baseType="lpstr">
      <vt:lpstr>Arial</vt:lpstr>
      <vt:lpstr>Bookman Old Style</vt:lpstr>
      <vt:lpstr>Calibri</vt:lpstr>
      <vt:lpstr>Cambria Math</vt:lpstr>
      <vt:lpstr>Comic Sans MS</vt:lpstr>
      <vt:lpstr>Franklin Gothic Book</vt:lpstr>
      <vt:lpstr>Custom</vt:lpstr>
      <vt:lpstr>Quantum Error  Correction -  Surface Code</vt:lpstr>
      <vt:lpstr>TIMELINE</vt:lpstr>
      <vt:lpstr>MOTIVATION</vt:lpstr>
      <vt:lpstr>Aim:  By the end of this presentation, you should have a solid conceptual map moving from:   Classical fault tolerance → basics of repetition codes and code distance.   Quantum stabilizer codes → stabilizers, code space, and error detection.   Surface code → as a topological code enabling scalable fault-tolerance.</vt:lpstr>
      <vt:lpstr>What are Quantum Errors?</vt:lpstr>
      <vt:lpstr>Decomposition of Errors</vt:lpstr>
      <vt:lpstr>Classical Fault Tolerance – Massive Redundancy (Repetition Code)</vt:lpstr>
      <vt:lpstr>Fundamentals of Classical Error Correction – Code Distance</vt:lpstr>
      <vt:lpstr>Fundamentals of Classical Error Correction – Decoding by MWPM</vt:lpstr>
      <vt:lpstr>Trying Classical Repetition code for Qubits!</vt:lpstr>
      <vt:lpstr>Detecting Bit-flip error – Parity checker</vt:lpstr>
      <vt:lpstr>Correcting Bit-flip error</vt:lpstr>
      <vt:lpstr>Detecting Phase-flip errors</vt:lpstr>
      <vt:lpstr>9 Qubit Shor code</vt:lpstr>
      <vt:lpstr>Summarize</vt:lpstr>
      <vt:lpstr>Stabilizer</vt:lpstr>
      <vt:lpstr>Role of Stabilizer in Detecting Errors</vt:lpstr>
      <vt:lpstr>Stabilizers as Observables with ±1 eigenvalues</vt:lpstr>
      <vt:lpstr>Exercise </vt:lpstr>
      <vt:lpstr>Stabilizer Codes &amp; Code space</vt:lpstr>
      <vt:lpstr>Useful Formula</vt:lpstr>
      <vt:lpstr>Graphing stabilizer code</vt:lpstr>
      <vt:lpstr>Introducing the Surface Code</vt:lpstr>
      <vt:lpstr>Introducing the Surface Code Logical Operations</vt:lpstr>
      <vt:lpstr>Surface Code</vt:lpstr>
      <vt:lpstr>Data qubits -Measure qubits Interaction Timing</vt:lpstr>
      <vt:lpstr>Data qubits -Measure qubits Interaction   contd.</vt:lpstr>
      <vt:lpstr>Data qubits -Measure qubits Interaction   contd.</vt:lpstr>
      <vt:lpstr>Surface Code Design</vt:lpstr>
      <vt:lpstr>Surface code design  contd.</vt:lpstr>
      <vt:lpstr>Surface Code Memory Experiment</vt:lpstr>
      <vt:lpstr>Quantum Error Detection</vt:lpstr>
      <vt:lpstr>Quantum Error Detection</vt:lpstr>
      <vt:lpstr>Quantum Error Detection</vt:lpstr>
      <vt:lpstr>Surface Code Error Detection: 3D graphs</vt:lpstr>
      <vt:lpstr>Surface Code Error Detection: 3D graphs    contd.</vt:lpstr>
      <vt:lpstr>STIM</vt:lpstr>
      <vt:lpstr>STIM  Results</vt:lpstr>
      <vt:lpstr>LDPC codes Low Density Parity Checks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Error  Correction -  Surface Code</dc:title>
  <dc:creator>Asmaa Ali</dc:creator>
  <cp:lastModifiedBy>Asmaa Ali</cp:lastModifiedBy>
  <cp:revision>64</cp:revision>
  <dcterms:created xsi:type="dcterms:W3CDTF">2025-08-10T02:30:00Z</dcterms:created>
  <dcterms:modified xsi:type="dcterms:W3CDTF">2026-10-13T17:51:32Z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ICV">
    <vt:lpwstr>7CBA88C399484D068CF1DE4ABA29C262_13</vt:lpwstr>
  </property>
  <property fmtid="{D5CDD505-2E9C-101B-9397-08002B2CF9AE}" pid="4" name="KSOProductBuildVer">
    <vt:lpwstr>1033-12.2.0.22549</vt:lpwstr>
  </property>
</Properties>
</file>